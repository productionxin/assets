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B1620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2B1620"/>
                </a:solidFill>
                <a:latin typeface="Calibri"/>
              </a:rPr>
              <a:t>What the first quarter looks like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Reach (indexed)</c:v>
                </c:pt>
              </c:strCache>
            </c:strRef>
          </c:tx>
          <c:spPr>
            <a:solidFill>
              <a:srgbClr val="6D2E46"/>
            </a:solidFill>
            <a:ln w="50800" cap="flat">
              <a:solidFill>
                <a:srgbClr val="6D2E4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6D2E46"/>
              </a:solidFill>
              <a:ln w="9525" cap="flat">
                <a:solidFill>
                  <a:srgbClr val="6D2E4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Wk 0</c:v>
                  </c:pt>
                  <c:pt idx="1">
                    <c:v>Wk 2</c:v>
                  </c:pt>
                  <c:pt idx="2">
                    <c:v>Wk 4</c:v>
                  </c:pt>
                  <c:pt idx="3">
                    <c:v>Wk 6</c:v>
                  </c:pt>
                  <c:pt idx="4">
                    <c:v>Wk 8</c:v>
                  </c:pt>
                  <c:pt idx="5">
                    <c:v>Wk 10</c:v>
                  </c:pt>
                  <c:pt idx="6">
                    <c:v>Wk 12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100</c:v>
                </c:pt>
                <c:pt idx="1">
                  <c:v>68</c:v>
                </c:pt>
                <c:pt idx="2">
                  <c:v>55</c:v>
                </c:pt>
                <c:pt idx="3">
                  <c:v>82</c:v>
                </c:pt>
                <c:pt idx="4">
                  <c:v>125</c:v>
                </c:pt>
                <c:pt idx="5">
                  <c:v>175</c:v>
                </c:pt>
                <c:pt idx="6">
                  <c:v>230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A606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E8DDE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A606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by acknowledging what she asked for, then say we did the homework before quoting.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the tone: we are willing to disagree with the brief.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core diagnosis. At 34 posts this is cheap to fix; at 20,000 followers it costs a year.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most valuable single idea in the deck. Land it slowly.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Counterintuitive, and it buys credibility for everything after it. Expect pushback if she likes the polished look.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120640" cy="512064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4023360"/>
            <a:ext cx="2926080" cy="2926080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9659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 ·  AUGUST 2026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23774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neXtHer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640080" y="352044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C9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brand — content, positioning and the funnel underneath it.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5029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Juhi Agarwal,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5394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ProductionX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STARTED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2B1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asked for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881360" cy="1371600"/>
          </a:xfrm>
          <a:prstGeom prst="roundRect">
            <a:avLst>
              <a:gd name="adj" fmla="val 8000"/>
            </a:avLst>
          </a:prstGeom>
          <a:solidFill>
            <a:srgbClr val="F7F2F4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196596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000" i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 digital production partner who can help me film, edit, publish, and grow high quality content as we build the brand together.”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36118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can do that. But before quoting for filming, we read your account, read your references, and researched the market you're entering.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44348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found changes what we think you should buy — and we'd rather tell you that upfront than sell you the thing you asked for and watch it not work.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01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2B1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account is advertising four different businesses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10881360" cy="658368"/>
          </a:xfrm>
          <a:prstGeom prst="roundRect">
            <a:avLst>
              <a:gd name="adj" fmla="val 13889"/>
            </a:avLst>
          </a:prstGeom>
          <a:solidFill>
            <a:srgbClr val="F7F2F4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148840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 headline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937760" y="2148840"/>
            <a:ext cx="6217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Overcome burnout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898648"/>
            <a:ext cx="10881360" cy="658368"/>
          </a:xfrm>
          <a:prstGeom prst="roundRect">
            <a:avLst>
              <a:gd name="adj" fmla="val 13889"/>
            </a:avLst>
          </a:prstGeom>
          <a:solidFill>
            <a:srgbClr val="F7F2F4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898648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 sub-line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37760" y="2898648"/>
            <a:ext cx="6217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Mindset · Healing · Confidence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3648456"/>
            <a:ext cx="10881360" cy="658368"/>
          </a:xfrm>
          <a:prstGeom prst="roundRect">
            <a:avLst>
              <a:gd name="adj" fmla="val 13889"/>
            </a:avLst>
          </a:prstGeom>
          <a:solidFill>
            <a:srgbClr val="F7F2F4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3648456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34 posts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3648456"/>
            <a:ext cx="6217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your marriage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4398264"/>
            <a:ext cx="10881360" cy="658368"/>
          </a:xfrm>
          <a:prstGeom prst="roundRect">
            <a:avLst>
              <a:gd name="adj" fmla="val 13889"/>
            </a:avLst>
          </a:prstGeom>
          <a:solidFill>
            <a:srgbClr val="F7F2F4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4398264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 CTA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0" y="4398264"/>
            <a:ext cx="6217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 Relationship Clarity Call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5148072"/>
            <a:ext cx="10881360" cy="658368"/>
          </a:xfrm>
          <a:prstGeom prst="roundRect">
            <a:avLst>
              <a:gd name="adj" fmla="val 13889"/>
            </a:avLst>
          </a:prstGeom>
          <a:solidFill>
            <a:srgbClr val="6D2E46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" y="5148072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neXtHer — the actual company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37760" y="5148072"/>
            <a:ext cx="6217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AI, income and independence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0080" y="60350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stranger cannot tell what you do — and relationship content brings in followers who will never buy an AI programme.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02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2B1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reference account proves the thesis works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4114800" cy="3200400"/>
          </a:xfrm>
          <a:prstGeom prst="roundRect">
            <a:avLst>
              <a:gd name="adj" fmla="val 4000"/>
            </a:avLst>
          </a:prstGeom>
          <a:solidFill>
            <a:srgbClr val="3D1B2E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51460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415,000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960120" y="33832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followers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39776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@upgradingkatie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60120" y="438912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C9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“Mom routines · money · glowup” — mothers, AI, income. Built in about a year.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74920" y="2240280"/>
            <a:ext cx="457200" cy="45720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0" name="Text 8"/>
          <p:cNvSpPr/>
          <p:nvPr/>
        </p:nvSpPr>
        <p:spPr>
          <a:xfrm>
            <a:off x="507492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760720" y="2203704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concept is proven.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760720" y="2551176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7A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not betting on an untested idea. Only on execution.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74920" y="3337560"/>
            <a:ext cx="457200" cy="45720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4" name="Text 12"/>
          <p:cNvSpPr/>
          <p:nvPr/>
        </p:nvSpPr>
        <p:spPr>
          <a:xfrm>
            <a:off x="507492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760720" y="3300984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is doing it in India.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760720" y="3648456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7A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 Hinglish, not for Indian mothers. We checked.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074920" y="4434840"/>
            <a:ext cx="457200" cy="45720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8" name="Text 16"/>
          <p:cNvSpPr/>
          <p:nvPr/>
        </p:nvSpPr>
        <p:spPr>
          <a:xfrm>
            <a:off x="507492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760720" y="4398264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window is open now.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5760720" y="4745736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7A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format found its footing in the last twelve months. It won't be open in 2027.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62636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Follower figure read from the profile you shared. Instagram blocks automated access, so treat it as a snapshot.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2B1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Mel Robbins is the wrong template — for now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5486400" cy="2011680"/>
          </a:xfrm>
          <a:prstGeom prst="roundRect">
            <a:avLst>
              <a:gd name="adj" fmla="val 5455"/>
            </a:avLst>
          </a:prstGeom>
          <a:solidFill>
            <a:srgbClr val="F7F2F4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2860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copying it fails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60120" y="2697480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Instagram is distribution for a #1 bestselling book, a top-tier podcast and a live tour. The account is downstream of the authority, not the cause of it. Quote cards work because they say Mel.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46520" y="2103120"/>
            <a:ext cx="5074920" cy="2011680"/>
          </a:xfrm>
          <a:prstGeom prst="roundRect">
            <a:avLst>
              <a:gd name="adj" fmla="val 5455"/>
            </a:avLst>
          </a:prstGeom>
          <a:solidFill>
            <a:srgbClr val="6D2E46"/>
          </a:solidFill>
          <a:ln/>
        </p:spPr>
      </p:sp>
      <p:sp>
        <p:nvSpPr>
          <p:cNvPr id="8" name="Text 6"/>
          <p:cNvSpPr/>
          <p:nvPr/>
        </p:nvSpPr>
        <p:spPr>
          <a:xfrm>
            <a:off x="6766560" y="228600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one thing transfers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766560" y="2697480"/>
            <a:ext cx="4480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whole career rests on naming a mechanism. The 5 Second Rule. The Let Them Theory. Not advice — a named, repeatable thing people describe to each other when she isn't in the room.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45720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1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neXtHer needs one — and it should exist before we film anything.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40080" y="52578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7A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Katie is the blueprint. Mel is the destination. The distance between them is a named idea and ten years.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2B1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want to sell you less filming than you asked for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224028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Katie's 415,000 followers were built on selfie-camera video — handheld, in her kitchen, in her car. No lighting, no crew. In this niche, low production is a trust signal: she looks like the woman watching her.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3246120"/>
            <a:ext cx="5257800" cy="2194560"/>
          </a:xfrm>
          <a:prstGeom prst="roundRect">
            <a:avLst>
              <a:gd name="adj" fmla="val 5000"/>
            </a:avLst>
          </a:prstGeom>
          <a:solidFill>
            <a:srgbClr val="A26769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3474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priority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393192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Cinematography and lighting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and b-roll shoots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 grading and polish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63640" y="3246120"/>
            <a:ext cx="5257800" cy="2194560"/>
          </a:xfrm>
          <a:prstGeom prst="roundRect">
            <a:avLst>
              <a:gd name="adj" fmla="val 5000"/>
            </a:avLst>
          </a:prstGeom>
          <a:solidFill>
            <a:srgbClr val="6D2E46"/>
          </a:solidFill>
          <a:ln/>
        </p:spPr>
      </p:sp>
      <p:sp>
        <p:nvSpPr>
          <p:cNvPr id="9" name="Text 7"/>
          <p:cNvSpPr/>
          <p:nvPr/>
        </p:nvSpPr>
        <p:spPr>
          <a:xfrm>
            <a:off x="6629400" y="3474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priority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629400" y="393192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— 5 posts a week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turnaround, every week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funnel and the comment engine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57150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b-roll shoots are the most expensive thing on your account and the least effective.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3D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1005840"/>
            <a:ext cx="4023360" cy="402336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05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640080" y="2971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 published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374904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 of them have you speaking on camera.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40080" y="50292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C9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talking-head, no voice, no piece to camera. For a brand whose product is your judgement, this is the biggest unlock available to you — and it costs nothing.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PROPOSAL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2B1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 film crew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 that gets you posting five times a week in your own voice, with a funnel underneath it.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2788920"/>
            <a:ext cx="3383280" cy="2743200"/>
          </a:xfrm>
          <a:prstGeom prst="roundRect">
            <a:avLst>
              <a:gd name="adj" fmla="val 4667"/>
            </a:avLst>
          </a:prstGeom>
          <a:solidFill>
            <a:srgbClr val="F7F2F4"/>
          </a:solidFill>
          <a:ln/>
        </p:spPr>
      </p:sp>
      <p:sp>
        <p:nvSpPr>
          <p:cNvPr id="6" name="Shape 4"/>
          <p:cNvSpPr/>
          <p:nvPr/>
        </p:nvSpPr>
        <p:spPr>
          <a:xfrm>
            <a:off x="1005840" y="3108960"/>
            <a:ext cx="548640" cy="54864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3108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384048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2B1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Settle the positioning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452628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7A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the pivot, build the named method and the public experiment — so content has something to be about.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89120" y="2788920"/>
            <a:ext cx="3383280" cy="2743200"/>
          </a:xfrm>
          <a:prstGeom prst="roundRect">
            <a:avLst>
              <a:gd name="adj" fmla="val 4667"/>
            </a:avLst>
          </a:prstGeom>
          <a:solidFill>
            <a:srgbClr val="F7F2F4"/>
          </a:solidFill>
          <a:ln/>
        </p:spPr>
      </p:sp>
      <p:sp>
        <p:nvSpPr>
          <p:cNvPr id="11" name="Shape 9"/>
          <p:cNvSpPr/>
          <p:nvPr/>
        </p:nvSpPr>
        <p:spPr>
          <a:xfrm>
            <a:off x="4754880" y="3108960"/>
            <a:ext cx="548640" cy="54864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3108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54880" y="384048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2B1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the content engine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754880" y="452628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7A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shoot on your phone. We do everything after that: edit, caption, cover, publish, report.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38160" y="2788920"/>
            <a:ext cx="3383280" cy="2743200"/>
          </a:xfrm>
          <a:prstGeom prst="roundRect">
            <a:avLst>
              <a:gd name="adj" fmla="val 4667"/>
            </a:avLst>
          </a:prstGeom>
          <a:solidFill>
            <a:srgbClr val="F7F2F4"/>
          </a:solidFill>
          <a:ln/>
        </p:spPr>
      </p:sp>
      <p:sp>
        <p:nvSpPr>
          <p:cNvPr id="16" name="Shape 14"/>
          <p:cNvSpPr/>
          <p:nvPr/>
        </p:nvSpPr>
        <p:spPr>
          <a:xfrm>
            <a:off x="8503920" y="3108960"/>
            <a:ext cx="548640" cy="54864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7" name="Text 15"/>
          <p:cNvSpPr/>
          <p:nvPr/>
        </p:nvSpPr>
        <p:spPr>
          <a:xfrm>
            <a:off x="8503920" y="3108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503920" y="384048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2B1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the funnel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503920" y="452628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7A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list, DM automation, store, the paid workshop, then the cohort.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 · 2 WEEKS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2B1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Strategy Sprint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8503920" y="731520"/>
            <a:ext cx="3017520" cy="1371600"/>
          </a:xfrm>
          <a:prstGeom prst="roundRect">
            <a:avLst>
              <a:gd name="adj" fmla="val 9333"/>
            </a:avLst>
          </a:prstGeom>
          <a:solidFill>
            <a:srgbClr val="6D2E46"/>
          </a:solidFill>
          <a:ln/>
        </p:spPr>
      </p:sp>
      <p:sp>
        <p:nvSpPr>
          <p:cNvPr id="5" name="Text 3"/>
          <p:cNvSpPr/>
          <p:nvPr/>
        </p:nvSpPr>
        <p:spPr>
          <a:xfrm>
            <a:off x="8503920" y="8686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₹45,000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503920" y="153619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· credited back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7A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else starts until this is done. Filming against unresolved positioning produces expensive noise.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606040"/>
            <a:ext cx="384048" cy="384048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606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07008" y="25603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 decision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207008" y="2852928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7A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account become neXtHer, or does neXtHer get its own?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63640" y="2606040"/>
            <a:ext cx="384048" cy="384048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13" name="Text 11"/>
          <p:cNvSpPr/>
          <p:nvPr/>
        </p:nvSpPr>
        <p:spPr>
          <a:xfrm>
            <a:off x="6263640" y="2606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830568" y="25603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named method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830568" y="2852928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7A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5 Second Rule — the thing people repeat when you're not there.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566160"/>
            <a:ext cx="384048" cy="384048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566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07008" y="35204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public experiment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207008" y="3813048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7A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version of Katie's “86 days” — start date, rule, clock.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63640" y="3566160"/>
            <a:ext cx="384048" cy="384048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21" name="Text 19"/>
          <p:cNvSpPr/>
          <p:nvPr/>
        </p:nvSpPr>
        <p:spPr>
          <a:xfrm>
            <a:off x="6263640" y="3566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830568" y="35204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thing you teach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830568" y="3813048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7A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Narrowed to a single sellable skill. Our recommendation is specific.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4526280"/>
            <a:ext cx="384048" cy="384048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4526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207008" y="44805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rebuild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1207008" y="4773168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7A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Bio, highlights, and the START HERE / HOW IT WORKS pinned set.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263640" y="4526280"/>
            <a:ext cx="384048" cy="384048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29" name="Text 27"/>
          <p:cNvSpPr/>
          <p:nvPr/>
        </p:nvSpPr>
        <p:spPr>
          <a:xfrm>
            <a:off x="6263640" y="4526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830568" y="44805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guide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6830568" y="4773168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7A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90-minute interview, so captions sound like you, not like AI.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40080" y="5486400"/>
            <a:ext cx="384048" cy="384048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" y="5486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207008" y="54406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sweep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1207008" y="5733288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7A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anyone already doing this in Hinglish for Indian mothers?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263640" y="5486400"/>
            <a:ext cx="384048" cy="384048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37" name="Text 35"/>
          <p:cNvSpPr/>
          <p:nvPr/>
        </p:nvSpPr>
        <p:spPr>
          <a:xfrm>
            <a:off x="6263640" y="5486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830568" y="54406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audit + 90-day plan</a:t>
            </a:r>
            <a:endParaRPr lang="en-US" sz="1450" dirty="0"/>
          </a:p>
        </p:txBody>
      </p:sp>
      <p:sp>
        <p:nvSpPr>
          <p:cNvPr id="39" name="Text 37"/>
          <p:cNvSpPr/>
          <p:nvPr/>
        </p:nvSpPr>
        <p:spPr>
          <a:xfrm>
            <a:off x="6830568" y="5733288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7A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real numbers, then content themed and scripted to hook level.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40080" y="62636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time: two 90-minute calls, plus screen access to your Instagram Insights.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THE CONTENT ENGINE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910"/>
              </a:lnSpc>
              <a:buNone/>
            </a:pPr>
            <a:r>
              <a:rPr lang="en-US" sz="3400" b="1" dirty="0">
                <a:solidFill>
                  <a:srgbClr val="2B1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ways to run it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3383280" cy="3657600"/>
          </a:xfrm>
          <a:prstGeom prst="roundRect">
            <a:avLst>
              <a:gd name="adj" fmla="val 3784"/>
            </a:avLst>
          </a:prstGeom>
          <a:solidFill>
            <a:srgbClr val="F7F2F4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40487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60120" y="277063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1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₹35,000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960120" y="3319272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7A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60120" y="3776472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i="1" dirty="0">
                <a:solidFill>
                  <a:srgbClr val="7A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starting carefully while cash is tight.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60120" y="4416552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reels/month (3 a week)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Captions, covers, hashtags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Publishing and scheduling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list set up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report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89120" y="2148840"/>
            <a:ext cx="3383280" cy="3657600"/>
          </a:xfrm>
          <a:prstGeom prst="roundRect">
            <a:avLst>
              <a:gd name="adj" fmla="val 3784"/>
            </a:avLst>
          </a:prstGeom>
          <a:solidFill>
            <a:srgbClr val="A26769"/>
          </a:solidFill>
          <a:ln/>
        </p:spPr>
      </p:sp>
      <p:sp>
        <p:nvSpPr>
          <p:cNvPr id="11" name="Text 9"/>
          <p:cNvSpPr/>
          <p:nvPr/>
        </p:nvSpPr>
        <p:spPr>
          <a:xfrm>
            <a:off x="4709160" y="240487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709160" y="277063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₹65,000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709160" y="3319272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2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709160" y="3776472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i="1" dirty="0">
                <a:solidFill>
                  <a:srgbClr val="F2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system. What actually moves an account from 1,209.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709160" y="4416552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reels/month (5 a week)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YouTube long-form/month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 keyword automation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triage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report + strategy call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138160" y="2148840"/>
            <a:ext cx="3383280" cy="3657600"/>
          </a:xfrm>
          <a:prstGeom prst="roundRect">
            <a:avLst>
              <a:gd name="adj" fmla="val 3784"/>
            </a:avLst>
          </a:prstGeom>
          <a:solidFill>
            <a:srgbClr val="6D2E46"/>
          </a:solidFill>
          <a:ln/>
        </p:spPr>
      </p:sp>
      <p:sp>
        <p:nvSpPr>
          <p:cNvPr id="17" name="Shape 15"/>
          <p:cNvSpPr/>
          <p:nvPr/>
        </p:nvSpPr>
        <p:spPr>
          <a:xfrm>
            <a:off x="8138160" y="1764792"/>
            <a:ext cx="3383280" cy="347472"/>
          </a:xfrm>
          <a:prstGeom prst="roundRect">
            <a:avLst>
              <a:gd name="adj" fmla="val 21053"/>
            </a:avLst>
          </a:prstGeom>
          <a:solidFill>
            <a:srgbClr val="D9A441"/>
          </a:solidFill>
          <a:ln/>
        </p:spPr>
      </p:sp>
      <p:sp>
        <p:nvSpPr>
          <p:cNvPr id="18" name="Text 16"/>
          <p:cNvSpPr/>
          <p:nvPr/>
        </p:nvSpPr>
        <p:spPr>
          <a:xfrm>
            <a:off x="8138160" y="176479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3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RECOMMENDATION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458200" y="240487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458200" y="277063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₹30,000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8458200" y="3319272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9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  +  15% of product revenue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458200" y="3776472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i="1" dirty="0">
                <a:solidFill>
                  <a:srgbClr val="C9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said “as we build the brand together.” This is us taking that literally.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458200" y="4416552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Engine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support included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cash risk for you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share of your 1:1 income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win only if it works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40080" y="62636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options carry a 3-month minimum term, then 30 days' notice either side.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3D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3566160"/>
            <a:ext cx="3657600" cy="365760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RECOMMENDATION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we'd rather share the risk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700" dirty="0">
                <a:solidFill>
                  <a:srgbClr val="C9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pre-revenue on neXtHer. A ₹65,000 monthly cheque is a real risk for you right now.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0080" y="2743200"/>
            <a:ext cx="457200" cy="45720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25880" y="2697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Cuts your cash exposure by more than half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325880" y="30449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9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₹30,000 a month instead of ₹65,000.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794760"/>
            <a:ext cx="457200" cy="45720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25880" y="3749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Ties our income to whether it actually works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325880" y="409651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9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 of workshops, cohorts and digital products — during the engagement and 6 months after.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4846320"/>
            <a:ext cx="457200" cy="45720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846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325880" y="4800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we're right, we do better than Option B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325880" y="514807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9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we're wrong, we've earned less. Which is how it should be.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594360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1:1 coaching income stays entirely yours.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2B1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do, and what we do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257800" cy="2834640"/>
          </a:xfrm>
          <a:prstGeom prst="roundRect">
            <a:avLst>
              <a:gd name="adj" fmla="val 4516"/>
            </a:avLst>
          </a:prstGeom>
          <a:solidFill>
            <a:srgbClr val="A26769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22402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51560" y="2743200"/>
            <a:ext cx="4389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Shoot on your phone — about 30 minutes a week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minutes a day in your own DMs and comments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Teach, run calls, close sales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up on camera, talking, in Hinglish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63640" y="2011680"/>
            <a:ext cx="5257800" cy="2834640"/>
          </a:xfrm>
          <a:prstGeom prst="roundRect">
            <a:avLst>
              <a:gd name="adj" fmla="val 4516"/>
            </a:avLst>
          </a:prstGeom>
          <a:solidFill>
            <a:srgbClr val="6D2E46"/>
          </a:solidFill>
          <a:ln/>
        </p:spPr>
      </p:sp>
      <p:sp>
        <p:nvSpPr>
          <p:cNvPr id="8" name="Text 6"/>
          <p:cNvSpPr/>
          <p:nvPr/>
        </p:nvSpPr>
        <p:spPr>
          <a:xfrm>
            <a:off x="6675120" y="22402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675120" y="2743200"/>
            <a:ext cx="4389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after the footage lands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replies for the repetitive messages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funnel that fills your calendar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you through the first month of it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5120640"/>
            <a:ext cx="10881360" cy="1005840"/>
          </a:xfrm>
          <a:prstGeom prst="roundRect">
            <a:avLst>
              <a:gd name="adj" fmla="val 10909"/>
            </a:avLst>
          </a:prstGeom>
          <a:solidFill>
            <a:srgbClr val="F7F2F4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512064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 minutes a day is a condition, not a preference. The funnel dies without you in it, and no agency can fake being the coach.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2B1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three months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stop posting marriage content, your reach will drop for roughly 3–6 weeks while Instagram re-learns who to show you to.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640080" y="278892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7A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normal, it is expected, and it is the single most likely way this plan fails — because month two feels like proof it isn't working.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40080" y="3931920"/>
            <a:ext cx="5394960" cy="1600200"/>
          </a:xfrm>
          <a:prstGeom prst="roundRect">
            <a:avLst>
              <a:gd name="adj" fmla="val 6857"/>
            </a:avLst>
          </a:prstGeom>
          <a:solidFill>
            <a:srgbClr val="6D2E46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3931920"/>
            <a:ext cx="4663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We'd rather agree it now, in writing, than argue about it in week three. The minimum term protects you from your own reasonable panic — and us from being judged on a dip we told you was coming.</a:t>
            </a:r>
            <a:endParaRPr lang="en-US" sz="14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6446520" y="1828800"/>
          <a:ext cx="5074920" cy="3703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640080" y="62636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shape, not a forecast. The dip is the part people quit during.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2B1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success looks like at 90 days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A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Follower count is the least useful number you have. This is what we'll report against.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423160"/>
            <a:ext cx="2468880" cy="1965960"/>
          </a:xfrm>
          <a:prstGeom prst="roundRect">
            <a:avLst>
              <a:gd name="adj" fmla="val 6512"/>
            </a:avLst>
          </a:prstGeom>
          <a:solidFill>
            <a:srgbClr val="F7F2F4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69748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3×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914400" y="34290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+ shares per reel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393192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7A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your current baseline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29000" y="2423160"/>
            <a:ext cx="2468880" cy="1965960"/>
          </a:xfrm>
          <a:prstGeom prst="roundRect">
            <a:avLst>
              <a:gd name="adj" fmla="val 6512"/>
            </a:avLst>
          </a:prstGeom>
          <a:solidFill>
            <a:srgbClr val="F7F2F4"/>
          </a:solidFill>
          <a:ln/>
        </p:spPr>
      </p:sp>
      <p:sp>
        <p:nvSpPr>
          <p:cNvPr id="10" name="Text 8"/>
          <p:cNvSpPr/>
          <p:nvPr/>
        </p:nvSpPr>
        <p:spPr>
          <a:xfrm>
            <a:off x="3703320" y="269748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3703320" y="34290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your WhatsApp list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703320" y="393192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7A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asset Instagram can't take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17920" y="2423160"/>
            <a:ext cx="2468880" cy="1965960"/>
          </a:xfrm>
          <a:prstGeom prst="roundRect">
            <a:avLst>
              <a:gd name="adj" fmla="val 6512"/>
            </a:avLst>
          </a:prstGeom>
          <a:solidFill>
            <a:srgbClr val="F7F2F4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269748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6492240" y="34290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workshops run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92240" y="393192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7A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buyers, not free signups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006840" y="2423160"/>
            <a:ext cx="2468880" cy="1965960"/>
          </a:xfrm>
          <a:prstGeom prst="roundRect">
            <a:avLst>
              <a:gd name="adj" fmla="val 6512"/>
            </a:avLst>
          </a:prstGeom>
          <a:solidFill>
            <a:srgbClr val="6D2E46"/>
          </a:solidFill>
          <a:ln/>
        </p:spPr>
      </p:sp>
      <p:sp>
        <p:nvSpPr>
          <p:cNvPr id="18" name="Text 16"/>
          <p:cNvSpPr/>
          <p:nvPr/>
        </p:nvSpPr>
        <p:spPr>
          <a:xfrm>
            <a:off x="9281160" y="269748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₹1.5–3L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9281160" y="34290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collected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281160" y="393192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9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number that settles arguments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40080" y="470916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Followers will land around 5,000 — engaged and correctly shaped.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0080" y="512064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7A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promising you 100,000 followers in 90 days is selling something. Katie took about a year, and she posted 369 times. You've posted 34. Volume is the gap — and it's the least glamorous item on this list.</a:t>
            </a:r>
            <a:endParaRPr lang="en-US" sz="14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DECIDE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2B1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honest risks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A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We'd rather you hear these from us than discover them in month two.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10881360" cy="1188720"/>
          </a:xfrm>
          <a:prstGeom prst="roundRect">
            <a:avLst>
              <a:gd name="adj" fmla="val 9231"/>
            </a:avLst>
          </a:prstGeom>
          <a:solidFill>
            <a:srgbClr val="F7F2F4"/>
          </a:solidFill>
          <a:ln/>
        </p:spPr>
      </p:sp>
      <p:sp>
        <p:nvSpPr>
          <p:cNvPr id="6" name="Shape 4"/>
          <p:cNvSpPr/>
          <p:nvPr/>
        </p:nvSpPr>
        <p:spPr>
          <a:xfrm>
            <a:off x="960120" y="2724912"/>
            <a:ext cx="457200" cy="45720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724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600200" y="256032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audience may not pay for AI training.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1600200" y="288036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7A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don't know this yet. The ₹999 workshop in week 5 is the cheapest possible test — run it before anyone builds a cohort. If it doesn't sell, you've lost no build cost and we'll say so.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703320"/>
            <a:ext cx="10881360" cy="1188720"/>
          </a:xfrm>
          <a:prstGeom prst="roundRect">
            <a:avLst>
              <a:gd name="adj" fmla="val 9231"/>
            </a:avLst>
          </a:prstGeom>
          <a:solidFill>
            <a:srgbClr val="F7F2F4"/>
          </a:solidFill>
          <a:ln/>
        </p:spPr>
      </p:sp>
      <p:sp>
        <p:nvSpPr>
          <p:cNvPr id="11" name="Shape 9"/>
          <p:cNvSpPr/>
          <p:nvPr/>
        </p:nvSpPr>
        <p:spPr>
          <a:xfrm>
            <a:off x="960120" y="4050792"/>
            <a:ext cx="457200" cy="45720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4050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600200" y="388620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may not have a result of your own to teach from.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1600200" y="420624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7A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the first 60 days are you landing your own paying clients, on camera. That becomes the content, the proof and the curriculum at once.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5029200"/>
            <a:ext cx="10881360" cy="1188720"/>
          </a:xfrm>
          <a:prstGeom prst="roundRect">
            <a:avLst>
              <a:gd name="adj" fmla="val 9231"/>
            </a:avLst>
          </a:prstGeom>
          <a:solidFill>
            <a:srgbClr val="F7F2F4"/>
          </a:solidFill>
          <a:ln/>
        </p:spPr>
      </p:sp>
      <p:sp>
        <p:nvSpPr>
          <p:cNvPr id="16" name="Shape 14"/>
          <p:cNvSpPr/>
          <p:nvPr/>
        </p:nvSpPr>
        <p:spPr>
          <a:xfrm>
            <a:off x="960120" y="5376672"/>
            <a:ext cx="457200" cy="45720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" y="5376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600200" y="521208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“AI income” has bad neighbours.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600200" y="553212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7A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Demonstration over claims. Screen recordings, real outputs, no income figure without the work behind it. This is a positioning asset, not a limitation.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3D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54480" y="4206240"/>
            <a:ext cx="4206240" cy="420624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-1188720"/>
            <a:ext cx="3657600" cy="3657600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START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we'd begin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468880" y="1965960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Sprint — ₹45,000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53288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1–12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468880" y="2532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 — ₹30,000/mo + 15%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309981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468880" y="3099816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paid workshop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3666744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468880" y="3666744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Review. Cohort, or stop.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321040" y="1874520"/>
            <a:ext cx="3200400" cy="2286000"/>
          </a:xfrm>
          <a:prstGeom prst="roundRect">
            <a:avLst>
              <a:gd name="adj" fmla="val 5600"/>
            </a:avLst>
          </a:prstGeom>
          <a:solidFill>
            <a:srgbClr val="6D2E46"/>
          </a:solidFill>
          <a:ln/>
        </p:spPr>
      </p:sp>
      <p:sp>
        <p:nvSpPr>
          <p:cNvPr id="15" name="Text 13"/>
          <p:cNvSpPr/>
          <p:nvPr/>
        </p:nvSpPr>
        <p:spPr>
          <a:xfrm>
            <a:off x="8321040" y="224028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₹90,000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8321040" y="29260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three months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321040" y="331012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9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sprint is credited back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0080" y="46634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45-minute call.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40080" y="525780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9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We'll walk you through the positioning finding and the named-method idea before you commit to anything. If you disagree with the diagnosis, there's no point discussing the price.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0080" y="603504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your Instagram Insights.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neXtHer — Proposal</dc:title>
  <dc:subject>PptxGenJS Presentation</dc:subject>
  <dc:creator>ProductionX</dc:creator>
  <cp:lastModifiedBy>ProductionX</cp:lastModifiedBy>
  <cp:revision>1</cp:revision>
  <dcterms:created xsi:type="dcterms:W3CDTF">2026-08-07T16:17:00Z</dcterms:created>
  <dcterms:modified xsi:type="dcterms:W3CDTF">2026-08-07T16:17:00Z</dcterms:modified>
</cp:coreProperties>
</file>