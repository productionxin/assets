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62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B1620"/>
                </a:solidFill>
                <a:latin typeface="Calibri"/>
              </a:rPr>
              <a:t>What the first quarter looks like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 (indexed)</c:v>
                </c:pt>
              </c:strCache>
            </c:strRef>
          </c:tx>
          <c:spPr>
            <a:solidFill>
              <a:srgbClr val="6D2E46"/>
            </a:solidFill>
            <a:ln w="50800" cap="flat">
              <a:solidFill>
                <a:srgbClr val="6D2E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D2E46"/>
              </a:solidFill>
              <a:ln w="9525" cap="flat">
                <a:solidFill>
                  <a:srgbClr val="6D2E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Wk 0</c:v>
                  </c:pt>
                  <c:pt idx="1">
                    <c:v>Wk 2</c:v>
                  </c:pt>
                  <c:pt idx="2">
                    <c:v>Wk 4</c:v>
                  </c:pt>
                  <c:pt idx="3">
                    <c:v>Wk 6</c:v>
                  </c:pt>
                  <c:pt idx="4">
                    <c:v>Wk 8</c:v>
                  </c:pt>
                  <c:pt idx="5">
                    <c:v>Wk 10</c:v>
                  </c:pt>
                  <c:pt idx="6">
                    <c:v>Wk 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68</c:v>
                </c:pt>
                <c:pt idx="2">
                  <c:v>55</c:v>
                </c:pt>
                <c:pt idx="3">
                  <c:v>82</c:v>
                </c:pt>
                <c:pt idx="4">
                  <c:v>125</c:v>
                </c:pt>
                <c:pt idx="5">
                  <c:v>175</c:v>
                </c:pt>
                <c:pt idx="6">
                  <c:v>230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0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8DD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0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acknowledging what she asked for, then say we did the homework before quoting.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we are willing to disagree with the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diagnosis. At 34 posts this is cheap to fix; at 20,000 followers it costs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valuable single idea in the deck. Land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Counterintuitive, and it buys credibility for everything after it. Expect pushback if she likes the polished look.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965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 ·  AUGUST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neXtHer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brand — content, positioning and the funnel underneath 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Juhi Agarwal,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ProductionX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asked for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7F2F4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65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i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digital production partner who can help me film, edit, publish, and grow high quality content as we build the brand together.”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do that. But before quoting for filming, we read your account, read your references, and researched the market you're entering.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changes what we think you should buy — and we'd rather tell you that upfront than sell you the thing you asked for and watch it not work.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account is advertising four different businesses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7F2F4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4884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headline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937760" y="2148840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Overcome burnout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898648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7F2F4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89864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sub-line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2898648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Mindset · Healing · Confidence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648456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7F2F4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484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34 posts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3648456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marriage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398264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7F2F4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39826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 CTA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4398264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Relationship Clarity Call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148072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6D2E46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14807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neXtHer — the actual company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514807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AI, income and independence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stranger cannot tell what you do — and relationship content brings in followers who will never buy an AI programme.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reference account proves the thesis works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114800" cy="2834640"/>
          </a:xfrm>
          <a:prstGeom prst="roundRect">
            <a:avLst>
              <a:gd name="adj" fmla="val 4516"/>
            </a:avLst>
          </a:prstGeom>
          <a:solidFill>
            <a:srgbClr val="3D1B2E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5146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415,000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60120" y="3383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@upgradingkatie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43891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“Mom routines · money · glowup” — mothers, AI, income. Built in about a year.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74920" y="2240280"/>
            <a:ext cx="457200" cy="4572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60720" y="2203704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 is proven.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760720" y="255117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betting on an untested idea. Only on execution.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74920" y="3538728"/>
            <a:ext cx="457200" cy="4572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2"/>
          <p:cNvSpPr/>
          <p:nvPr/>
        </p:nvSpPr>
        <p:spPr>
          <a:xfrm>
            <a:off x="507492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760720" y="350215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doing it in India.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760720" y="3849624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Hinglish, not for Indian mothers. We checked.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74920" y="4837176"/>
            <a:ext cx="457200" cy="4572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760720" y="48006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open now.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760720" y="5148072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format found its footing in the last twelve months. It won't be open in 2027.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 figure read from the profile you shared. Instagram blocks automated access, so treat it as a snapshot.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 Robbins is the wrong template — for now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7F2F4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286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copying it fails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Instagram is distribution for a #1 bestselling book, a top-tier podcast and a live tour. The account is downstream of the authority, not the cause of it. Quote cards work because they say Mel.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46520" y="2103120"/>
            <a:ext cx="5074920" cy="2011680"/>
          </a:xfrm>
          <a:prstGeom prst="roundRect">
            <a:avLst>
              <a:gd name="adj" fmla="val 5455"/>
            </a:avLst>
          </a:prstGeom>
          <a:solidFill>
            <a:srgbClr val="6D2E46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22860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one thing transfers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0" y="269748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whole career rests on naming a mechanism. The 5 Second Rule. The Let Them Theory. Not advice — a named, repeatable thing people describe to each other when she isn't in the room.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5720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neXtHer needs one — and it should exist before we film anything.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Katie is the blueprint. Mel is the destination. The distance between them is a named idea and ten years.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want to sell you less filming than you asked for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2402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Katie's 415,000 followers were built on selfie-camera video — handheld, in her kitchen, in her car. No lighting, no crew. In this niche, low production is a trust signal: she looks like the woman watching her.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5257800" cy="2194560"/>
          </a:xfrm>
          <a:prstGeom prst="roundRect">
            <a:avLst>
              <a:gd name="adj" fmla="val 5000"/>
            </a:avLst>
          </a:prstGeom>
          <a:solidFill>
            <a:srgbClr val="A26769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474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priority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931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Cinematography and lighting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and b-roll shoots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grading and polish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3246120"/>
            <a:ext cx="5257800" cy="219456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3474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priority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29400" y="3931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5 posts a week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turnaround, every week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and the comment engine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b-roll shoots are the most expensive thing on your account and the least effective.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1005840"/>
            <a:ext cx="4023360" cy="402336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5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published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of them have you speaking on camera.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5029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talking-head, no voice, no piece to camera. For a brand whose product is your judgement, this is the biggest unlock available to you — and it costs nothing.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film crew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gets you posting five times a week in your own voice, with a funnel underneath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3383280" cy="2743200"/>
          </a:xfrm>
          <a:prstGeom prst="roundRect">
            <a:avLst>
              <a:gd name="adj" fmla="val 4667"/>
            </a:avLst>
          </a:prstGeom>
          <a:solidFill>
            <a:srgbClr val="F7F2F4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310896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the positioning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pivot, build the named method and the public experiment — so content has something to be about.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788920"/>
            <a:ext cx="3383280" cy="2743200"/>
          </a:xfrm>
          <a:prstGeom prst="roundRect">
            <a:avLst>
              <a:gd name="adj" fmla="val 4667"/>
            </a:avLst>
          </a:prstGeom>
          <a:solidFill>
            <a:srgbClr val="F7F2F4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310896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84048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content engine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shoot on your phone. We do everything after that: edit, caption, cover, publish, report.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788920"/>
            <a:ext cx="3383280" cy="2743200"/>
          </a:xfrm>
          <a:prstGeom prst="roundRect">
            <a:avLst>
              <a:gd name="adj" fmla="val 4667"/>
            </a:avLst>
          </a:prstGeom>
          <a:solidFill>
            <a:srgbClr val="F7F2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503920" y="310896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7" name="Text 15"/>
          <p:cNvSpPr/>
          <p:nvPr/>
        </p:nvSpPr>
        <p:spPr>
          <a:xfrm>
            <a:off x="850392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03920" y="384048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funnel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0392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list, DM automation, store, the paid workshop, then the cohort.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Sprint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503920" y="731520"/>
            <a:ext cx="3017520" cy="1097280"/>
          </a:xfrm>
          <a:prstGeom prst="roundRect">
            <a:avLst>
              <a:gd name="adj" fmla="val 11667"/>
            </a:avLst>
          </a:prstGeom>
          <a:solidFill>
            <a:srgbClr val="6D2E46"/>
          </a:solidFill>
          <a:ln/>
        </p:spPr>
      </p:sp>
      <p:sp>
        <p:nvSpPr>
          <p:cNvPr id="5" name="Text 3"/>
          <p:cNvSpPr/>
          <p:nvPr/>
        </p:nvSpPr>
        <p:spPr>
          <a:xfrm>
            <a:off x="8503920" y="868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₹45,000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503920" y="15361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· credited back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starts until this is done. Filming against unresolved positioning produces expensive noise.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384048" cy="384048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07008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decision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207008" y="285292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account become neXtHer, or does neXtHer get its own?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606040"/>
            <a:ext cx="384048" cy="38404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30568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named method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830568" y="285292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5 Second Rule — the thing people repeat when you're not there.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384048" cy="384048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07008" y="3520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experiment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207008" y="38130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version of Katie's “86 days” — start date, rule, clock.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3566160"/>
            <a:ext cx="384048" cy="38404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1" name="Text 19"/>
          <p:cNvSpPr/>
          <p:nvPr/>
        </p:nvSpPr>
        <p:spPr>
          <a:xfrm>
            <a:off x="6263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30568" y="3520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you teach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830568" y="38130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Narrowed to a single sellable skill. Our recommendation is specific.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526280"/>
            <a:ext cx="384048" cy="384048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07008" y="4480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rebuild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207008" y="47731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Bio, highlights, and the START HERE / HOW IT WORKS pinned set.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63640" y="4526280"/>
            <a:ext cx="384048" cy="38404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9" name="Text 27"/>
          <p:cNvSpPr/>
          <p:nvPr/>
        </p:nvSpPr>
        <p:spPr>
          <a:xfrm>
            <a:off x="6263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30568" y="4480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guide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830568" y="47731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90-minute interview, so captions sound like you, not like AI.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5486400"/>
            <a:ext cx="384048" cy="384048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07008" y="5440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sweep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207008" y="57332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anyone already doing this in Hinglish for Indian mothers?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63640" y="5486400"/>
            <a:ext cx="384048" cy="384048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37" name="Text 35"/>
          <p:cNvSpPr/>
          <p:nvPr/>
        </p:nvSpPr>
        <p:spPr>
          <a:xfrm>
            <a:off x="6263640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830568" y="5440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audit + 90-day plan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6830568" y="57332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real numbers, then content themed and scripted to hook level.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time: two 90-minute calls, plus screen access to your Instagram Insights.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THE CONTENT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10"/>
              </a:lnSpc>
              <a:buNone/>
            </a:pPr>
            <a:r>
              <a:rPr lang="en-US" sz="34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run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83280" cy="3154680"/>
          </a:xfrm>
          <a:prstGeom prst="roundRect">
            <a:avLst>
              <a:gd name="adj" fmla="val 4058"/>
            </a:avLst>
          </a:prstGeom>
          <a:solidFill>
            <a:srgbClr val="F7F2F4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404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770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₹35,000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31927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377647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starting carefully while cash is tight.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4416552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reels/month (3 a week)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Captions, covers, hashtags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and scheduling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list set up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3154680"/>
          </a:xfrm>
          <a:prstGeom prst="roundRect">
            <a:avLst>
              <a:gd name="adj" fmla="val 4058"/>
            </a:avLst>
          </a:prstGeom>
          <a:solidFill>
            <a:srgbClr val="A26769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2404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09160" y="2770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₹65,000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09160" y="331927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709160" y="377647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F2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system. What actually moves an account from 1,209.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09160" y="4416552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reels/month (5 a week)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YouTube long-form/month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keyword automation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triage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+ strategy call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38160" y="2148840"/>
            <a:ext cx="3383280" cy="3154680"/>
          </a:xfrm>
          <a:prstGeom prst="roundRect">
            <a:avLst>
              <a:gd name="adj" fmla="val 4058"/>
            </a:avLst>
          </a:prstGeom>
          <a:solidFill>
            <a:srgbClr val="6D2E46"/>
          </a:solidFill>
          <a:ln/>
        </p:spPr>
      </p:sp>
      <p:sp>
        <p:nvSpPr>
          <p:cNvPr id="17" name="Shape 15"/>
          <p:cNvSpPr/>
          <p:nvPr/>
        </p:nvSpPr>
        <p:spPr>
          <a:xfrm>
            <a:off x="8138160" y="1764792"/>
            <a:ext cx="3383280" cy="347472"/>
          </a:xfrm>
          <a:prstGeom prst="roundRect">
            <a:avLst>
              <a:gd name="adj" fmla="val 21053"/>
            </a:avLst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76479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3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RECOMMENDATION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58200" y="2404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8200" y="2770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₹30,000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458200" y="331927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 +  15% of product revenue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458200" y="377647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said “as we build the brand together.” This is us taking that literally.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58200" y="4416552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Engine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support included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cash risk for you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 of your 1:1 income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win only if it works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options carry a 3-month minimum term, then 30 days' notice either side.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3566160"/>
            <a:ext cx="3657600" cy="36576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RECOMMENDATION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we'd rather share the risk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pre-revenue on neXtHer. A ₹65,000 monthly cheque is a real risk for you right now.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your cash exposure by more than half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25880" y="30449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₹30,000 a month instead of ₹65,000.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2588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Ties our income to whether it actually works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25880" y="40965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 workshops, cohorts and digital products — during the engagement and 6 months after.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846320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we're right, we do better than Option 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25880" y="51480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we're wrong, we've earned less. Which is how it should be.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94360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1:1 coaching income stays entirely yours.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do, and what we do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57800" cy="2834640"/>
          </a:xfrm>
          <a:prstGeom prst="roundRect">
            <a:avLst>
              <a:gd name="adj" fmla="val 4516"/>
            </a:avLst>
          </a:prstGeom>
          <a:solidFill>
            <a:srgbClr val="A26769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240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74320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 on your phone — about 30 minutes a week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 a day in your own DMs and comments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Teach, run calls, close sales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up on camera, talking, in Hinglish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2011680"/>
            <a:ext cx="5257800" cy="2834640"/>
          </a:xfrm>
          <a:prstGeom prst="roundRect">
            <a:avLst>
              <a:gd name="adj" fmla="val 4516"/>
            </a:avLst>
          </a:prstGeom>
          <a:solidFill>
            <a:srgbClr val="6D2E4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2240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0" y="274320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after the footage lands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replies for the repetitive messages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funnel that fills your calendar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you through the first month of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512064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F7F2F4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51206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 minutes a day is a condition, not a preference. The funnel dies without you in it, and no agency can fake being the coach.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three months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stop posting marriage content, your reach will drop for roughly 3–6 weeks while Instagram re-learns who to show you to.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normal, it is expected, and it is the single most likely way this plan fails — because month two feels like proof it isn't working.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931920"/>
            <a:ext cx="4663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rather agree it now, in writing, than argue about it in week three. The minimum term protects you from your own reasonable panic — and us from being judged on a dip we told you was coming.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46520" y="1828800"/>
          <a:ext cx="50749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shape, not a forecast. The dip is the part people quit during.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success looks like at 90 days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 count is the least useful number you have. This is what we'll report against.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468880" cy="1965960"/>
          </a:xfrm>
          <a:prstGeom prst="roundRect">
            <a:avLst>
              <a:gd name="adj" fmla="val 6512"/>
            </a:avLst>
          </a:prstGeom>
          <a:solidFill>
            <a:srgbClr val="F7F2F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974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+ shares per reel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your current baseline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423160"/>
            <a:ext cx="2468880" cy="1965960"/>
          </a:xfrm>
          <a:prstGeom prst="roundRect">
            <a:avLst>
              <a:gd name="adj" fmla="val 6512"/>
            </a:avLst>
          </a:prstGeom>
          <a:solidFill>
            <a:srgbClr val="F7F2F4"/>
          </a:solidFill>
          <a:ln/>
        </p:spPr>
      </p:sp>
      <p:sp>
        <p:nvSpPr>
          <p:cNvPr id="10" name="Text 8"/>
          <p:cNvSpPr/>
          <p:nvPr/>
        </p:nvSpPr>
        <p:spPr>
          <a:xfrm>
            <a:off x="3703320" y="26974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03320" y="34290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WhatsApp list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03320" y="393192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Instagram can't take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2423160"/>
            <a:ext cx="2468880" cy="1965960"/>
          </a:xfrm>
          <a:prstGeom prst="roundRect">
            <a:avLst>
              <a:gd name="adj" fmla="val 6512"/>
            </a:avLst>
          </a:prstGeom>
          <a:solidFill>
            <a:srgbClr val="F7F2F4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6974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92240" y="34290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workshops run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93192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buyers, not free signups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06840" y="2423160"/>
            <a:ext cx="2468880" cy="1965960"/>
          </a:xfrm>
          <a:prstGeom prst="roundRect">
            <a:avLst>
              <a:gd name="adj" fmla="val 6512"/>
            </a:avLst>
          </a:prstGeom>
          <a:solidFill>
            <a:srgbClr val="6D2E46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26974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₹1.5–3L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281160" y="34290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collected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81160" y="393192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number that settles arguments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will land around 5,000 — engaged and correctly shaped.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51206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promising you 100,000 followers in 90 days is selling something. Katie took about a year, and she posted 369 times. You've posted 34. Volume is the gap — and it's the least glamorous item on this list.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DECIDE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B1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risks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rather you hear these from us than discover them in month two.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7F2F4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724912"/>
            <a:ext cx="457200" cy="4572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56032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audience may not pay for AI training.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600200" y="28803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know this yet. The ₹999 workshop in week 5 is the cheapest possible test — run it before anyone builds a cohort. If it doesn't sell, you've lost no build cost and we'll say so.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7F2F4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4050792"/>
            <a:ext cx="457200" cy="4572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050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0200" y="388620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not have a result of your own to teach from.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600200" y="420624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first 60 days are you landing your own paying clients, on camera. That becomes the content, the proof and the curriculum at once.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7F2F4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5376672"/>
            <a:ext cx="457200" cy="4572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376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521208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 income” has bad neighbours.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600200" y="55321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over claims. Screen recordings, real outputs, no income figure without the work behind it. This is a positioning asset, not a limitation.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651760" y="5669280"/>
            <a:ext cx="3657600" cy="365760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-1188720"/>
            <a:ext cx="3657600" cy="36576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START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we'd begin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8880" y="196596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Sprint — ₹45,000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3288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1–12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68880" y="2532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— ₹30,000/mo + 15%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0998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68880" y="309981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paid workshop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666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3666744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Review. Cohort, or stop.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21040" y="1874520"/>
            <a:ext cx="3200400" cy="1783080"/>
          </a:xfrm>
          <a:prstGeom prst="roundRect">
            <a:avLst>
              <a:gd name="adj" fmla="val 7179"/>
            </a:avLst>
          </a:prstGeom>
          <a:solidFill>
            <a:srgbClr val="6D2E46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22402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₹90,000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321040" y="2926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months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3310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sprint is credited back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4663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45-minute call.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40080" y="52578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walk you through the positioning finding and the named-method idea before you commit to anything. If you disagree with the diagnosis, there's no point discussing the price.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Instagram Insights.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neXtHer — Proposal</dc:title>
  <dc:subject>PptxGenJS Presentation</dc:subject>
  <dc:creator>ProductionX</dc:creator>
  <cp:lastModifiedBy>ProductionX</cp:lastModifiedBy>
  <cp:revision>1</cp:revision>
  <dcterms:created xsi:type="dcterms:W3CDTF">2026-08-07T16:27:38Z</dcterms:created>
  <dcterms:modified xsi:type="dcterms:W3CDTF">2026-08-07T16:27:38Z</dcterms:modified>
</cp:coreProperties>
</file>