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after she replies. Warm, research-led, no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B2E"/>
        </a:solidFill>
      </p:bgPr>
    </p:bg>
    <p:spTree>
      <p:nvGrpSpPr>
        <p:cNvPr id="1" name=""/>
        <p:cNvGrpSpPr/>
        <p:nvPr/>
      </p:nvGrpSpPr>
      <p:grpSpPr>
        <a:xfrm>
          <a:off x="0" y="0"/>
          <a:ext cx="0" cy="0"/>
          <a:chOff x="0" y="0"/>
          <a:chExt cx="0" cy="0"/>
        </a:xfrm>
      </p:grpSpPr>
      <p:sp>
        <p:nvSpPr>
          <p:cNvPr id="2" name="Shape 0"/>
          <p:cNvSpPr/>
          <p:nvPr/>
        </p:nvSpPr>
        <p:spPr>
          <a:xfrm>
            <a:off x="8686800" y="-1554480"/>
            <a:ext cx="5303520" cy="5303520"/>
          </a:xfrm>
          <a:prstGeom prst="ellipse">
            <a:avLst/>
          </a:prstGeom>
          <a:solidFill>
            <a:srgbClr val="6D2E46"/>
          </a:solidFill>
          <a:ln/>
        </p:spPr>
      </p:sp>
      <p:sp>
        <p:nvSpPr>
          <p:cNvPr id="3" name="Shape 1"/>
          <p:cNvSpPr/>
          <p:nvPr/>
        </p:nvSpPr>
        <p:spPr>
          <a:xfrm>
            <a:off x="10515600" y="4114800"/>
            <a:ext cx="3017520" cy="3017520"/>
          </a:xfrm>
          <a:prstGeom prst="ellipse">
            <a:avLst/>
          </a:prstGeom>
          <a:solidFill>
            <a:srgbClr val="A26769"/>
          </a:solidFill>
          <a:ln/>
        </p:spPr>
      </p:sp>
      <p:sp>
        <p:nvSpPr>
          <p:cNvPr id="4" name="Text 2"/>
          <p:cNvSpPr/>
          <p:nvPr/>
        </p:nvSpPr>
        <p:spPr>
          <a:xfrm>
            <a:off x="640080" y="1920240"/>
            <a:ext cx="7315200" cy="274320"/>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FOR JUHI AGARWAL  ·  AUGUST 2026</a:t>
            </a:r>
            <a:endParaRPr lang="en-US" sz="1200" dirty="0"/>
          </a:p>
        </p:txBody>
      </p:sp>
      <p:sp>
        <p:nvSpPr>
          <p:cNvPr id="5" name="Text 3"/>
          <p:cNvSpPr/>
          <p:nvPr/>
        </p:nvSpPr>
        <p:spPr>
          <a:xfrm>
            <a:off x="640080" y="2286000"/>
            <a:ext cx="7315200" cy="749808"/>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neXtHer</a:t>
            </a:r>
            <a:endParaRPr lang="en-US" sz="6200" dirty="0"/>
          </a:p>
        </p:txBody>
      </p:sp>
      <p:sp>
        <p:nvSpPr>
          <p:cNvPr id="6" name="Text 4"/>
          <p:cNvSpPr/>
          <p:nvPr/>
        </p:nvSpPr>
        <p:spPr>
          <a:xfrm>
            <a:off x="640080" y="3108960"/>
            <a:ext cx="7315200" cy="548640"/>
          </a:xfrm>
          <a:prstGeom prst="rect">
            <a:avLst/>
          </a:prstGeom>
          <a:noFill/>
          <a:ln/>
        </p:spPr>
        <p:txBody>
          <a:bodyPr wrap="square" lIns="0" tIns="0" rIns="0" bIns="0" rtlCol="0" anchor="ctr"/>
          <a:lstStyle/>
          <a:p>
            <a:pPr indent="0" marL="0">
              <a:buNone/>
            </a:pPr>
            <a:r>
              <a:rPr lang="en-US" sz="3400" dirty="0">
                <a:solidFill>
                  <a:srgbClr val="D9A441"/>
                </a:solidFill>
                <a:latin typeface="Cambria" pitchFamily="34" charset="0"/>
                <a:ea typeface="Cambria" pitchFamily="34" charset="-122"/>
                <a:cs typeface="Cambria" pitchFamily="34" charset="-120"/>
              </a:rPr>
              <a:t>What I found</a:t>
            </a:r>
            <a:endParaRPr lang="en-US" sz="3400" dirty="0"/>
          </a:p>
        </p:txBody>
      </p:sp>
      <p:sp>
        <p:nvSpPr>
          <p:cNvPr id="7" name="Text 5"/>
          <p:cNvSpPr/>
          <p:nvPr/>
        </p:nvSpPr>
        <p:spPr>
          <a:xfrm>
            <a:off x="640080" y="3840480"/>
            <a:ext cx="6583680" cy="1005840"/>
          </a:xfrm>
          <a:prstGeom prst="rect">
            <a:avLst/>
          </a:prstGeom>
          <a:noFill/>
          <a:ln/>
        </p:spPr>
        <p:txBody>
          <a:bodyPr wrap="square" lIns="0" tIns="0" rIns="0" bIns="0" rtlCol="0" anchor="ctr"/>
          <a:lstStyle/>
          <a:p>
            <a:pPr indent="0" marL="0">
              <a:lnSpc>
                <a:spcPts val="2600"/>
              </a:lnSpc>
              <a:buNone/>
            </a:pPr>
            <a:r>
              <a:rPr lang="en-US" sz="1700" dirty="0">
                <a:solidFill>
                  <a:srgbClr val="C9AEB8"/>
                </a:solidFill>
                <a:latin typeface="Calibri" pitchFamily="34" charset="0"/>
                <a:ea typeface="Calibri" pitchFamily="34" charset="-122"/>
                <a:cs typeface="Calibri" pitchFamily="34" charset="-120"/>
              </a:rPr>
              <a:t>You asked me to film, edit, publish and grow. Before I answered that, I wanted to actually understand what I'd be filming — and what would make it work.</a:t>
            </a:r>
            <a:endParaRPr lang="en-US" sz="1700" dirty="0"/>
          </a:p>
        </p:txBody>
      </p:sp>
      <p:sp>
        <p:nvSpPr>
          <p:cNvPr id="8" name="Text 6"/>
          <p:cNvSpPr/>
          <p:nvPr/>
        </p:nvSpPr>
        <p:spPr>
          <a:xfrm>
            <a:off x="640080" y="5394960"/>
            <a:ext cx="5486400" cy="274320"/>
          </a:xfrm>
          <a:prstGeom prst="rect">
            <a:avLst/>
          </a:prstGeom>
          <a:noFill/>
          <a:ln/>
        </p:spPr>
        <p:txBody>
          <a:bodyPr wrap="square" lIns="0" tIns="0" rIns="0" bIns="0" rtlCol="0" anchor="ctr"/>
          <a:lstStyle/>
          <a:p>
            <a:pPr indent="0" marL="0">
              <a:buNone/>
            </a:pPr>
            <a:r>
              <a:rPr lang="en-US" sz="1400" dirty="0">
                <a:solidFill>
                  <a:srgbClr val="C9AEB8"/>
                </a:solidFill>
                <a:latin typeface="Calibri" pitchFamily="34" charset="0"/>
                <a:ea typeface="Calibri" pitchFamily="34" charset="-122"/>
                <a:cs typeface="Calibri" pitchFamily="34" charset="-120"/>
              </a:rPr>
              <a:t>Prepared by  </a:t>
            </a:r>
            <a:pPr indent="0" marL="0">
              <a:buNone/>
            </a:pPr>
            <a:r>
              <a:rPr lang="en-US" sz="1400" b="1" dirty="0">
                <a:solidFill>
                  <a:srgbClr val="FFFFFF"/>
                </a:solidFill>
                <a:latin typeface="Calibri" pitchFamily="34" charset="0"/>
                <a:ea typeface="Calibri" pitchFamily="34" charset="-122"/>
                <a:cs typeface="Calibri" pitchFamily="34" charset="-120"/>
              </a:rPr>
              <a:t>ProductionX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WHERE WE STARTED</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Your words, first</a:t>
            </a:r>
            <a:endParaRPr lang="en-US" sz="3800" dirty="0"/>
          </a:p>
        </p:txBody>
      </p:sp>
      <p:sp>
        <p:nvSpPr>
          <p:cNvPr id="4" name="Shape 2"/>
          <p:cNvSpPr/>
          <p:nvPr/>
        </p:nvSpPr>
        <p:spPr>
          <a:xfrm>
            <a:off x="640080" y="1783080"/>
            <a:ext cx="10881360" cy="1554480"/>
          </a:xfrm>
          <a:prstGeom prst="roundRect">
            <a:avLst>
              <a:gd name="adj" fmla="val 8235"/>
            </a:avLst>
          </a:prstGeom>
          <a:solidFill>
            <a:srgbClr val="F7F2F4"/>
          </a:solidFill>
          <a:ln/>
        </p:spPr>
      </p:sp>
      <p:sp>
        <p:nvSpPr>
          <p:cNvPr id="5" name="Text 3"/>
          <p:cNvSpPr/>
          <p:nvPr/>
        </p:nvSpPr>
        <p:spPr>
          <a:xfrm>
            <a:off x="1097280" y="1783080"/>
            <a:ext cx="9966960" cy="1554480"/>
          </a:xfrm>
          <a:prstGeom prst="rect">
            <a:avLst/>
          </a:prstGeom>
          <a:noFill/>
          <a:ln/>
        </p:spPr>
        <p:txBody>
          <a:bodyPr wrap="square" lIns="0" tIns="0" rIns="0" bIns="0" rtlCol="0" anchor="ctr"/>
          <a:lstStyle/>
          <a:p>
            <a:pPr indent="0" marL="0">
              <a:lnSpc>
                <a:spcPts val="2200"/>
              </a:lnSpc>
              <a:buNone/>
            </a:pPr>
            <a:r>
              <a:rPr lang="en-US" sz="1500" i="1" dirty="0">
                <a:solidFill>
                  <a:srgbClr val="6D2E46"/>
                </a:solidFill>
                <a:latin typeface="Cambria" pitchFamily="34" charset="0"/>
                <a:ea typeface="Cambria" pitchFamily="34" charset="-122"/>
                <a:cs typeface="Cambria" pitchFamily="34" charset="-120"/>
              </a:rPr>
              <a:t>"I'm building a personal brand focused on helping women (especially mothers) use AI, mindset, and practical systems to create more freedom and financial independence.</a:t>
            </a:r>
            <a:endParaRPr lang="en-US" sz="1500" dirty="0"/>
          </a:p>
          <a:p>
            <a:pPr indent="0" marL="0">
              <a:lnSpc>
                <a:spcPts val="2200"/>
              </a:lnSpc>
              <a:buNone/>
            </a:pPr>
            <a:endParaRPr lang="en-US" sz="1500" dirty="0"/>
          </a:p>
          <a:p>
            <a:pPr indent="0" marL="0">
              <a:lnSpc>
                <a:spcPts val="2200"/>
              </a:lnSpc>
              <a:buNone/>
            </a:pPr>
            <a:r>
              <a:rPr lang="en-US" sz="1500" i="1" dirty="0">
                <a:solidFill>
                  <a:srgbClr val="6D2E46"/>
                </a:solidFill>
                <a:latin typeface="Cambria" pitchFamily="34" charset="0"/>
                <a:ea typeface="Cambria" pitchFamily="34" charset="-122"/>
                <a:cs typeface="Cambria" pitchFamily="34" charset="-120"/>
              </a:rPr>
              <a:t>I'm in the early stages and am looking for a digital production partner who can help me film, edit, publish, and grow high quality content as we build the brand together."</a:t>
            </a:r>
            <a:endParaRPr lang="en-US" sz="1500" dirty="0"/>
          </a:p>
        </p:txBody>
      </p:sp>
      <p:sp>
        <p:nvSpPr>
          <p:cNvPr id="6" name="Text 4"/>
          <p:cNvSpPr/>
          <p:nvPr/>
        </p:nvSpPr>
        <p:spPr>
          <a:xfrm>
            <a:off x="640080" y="3749040"/>
            <a:ext cx="10241280" cy="640080"/>
          </a:xfrm>
          <a:prstGeom prst="rect">
            <a:avLst/>
          </a:prstGeom>
          <a:noFill/>
          <a:ln/>
        </p:spPr>
        <p:txBody>
          <a:bodyPr wrap="square" lIns="0" tIns="0" rIns="0" bIns="0" rtlCol="0" anchor="ctr"/>
          <a:lstStyle/>
          <a:p>
            <a:pPr indent="0" marL="0">
              <a:lnSpc>
                <a:spcPts val="2600"/>
              </a:lnSpc>
              <a:buNone/>
            </a:pPr>
            <a:r>
              <a:rPr lang="en-US" sz="1700" dirty="0">
                <a:solidFill>
                  <a:srgbClr val="2B1620"/>
                </a:solidFill>
                <a:latin typeface="Calibri" pitchFamily="34" charset="0"/>
                <a:ea typeface="Calibri" pitchFamily="34" charset="-122"/>
                <a:cs typeface="Calibri" pitchFamily="34" charset="-120"/>
              </a:rPr>
              <a:t>Most people would reply to that with a package and a price. I didn't want to do that before I understood the brand I'd be building with you.</a:t>
            </a:r>
            <a:endParaRPr lang="en-US" sz="1700" dirty="0"/>
          </a:p>
        </p:txBody>
      </p:sp>
      <p:sp>
        <p:nvSpPr>
          <p:cNvPr id="7" name="Text 5"/>
          <p:cNvSpPr/>
          <p:nvPr/>
        </p:nvSpPr>
        <p:spPr>
          <a:xfrm>
            <a:off x="640080" y="4480560"/>
            <a:ext cx="10241280" cy="640080"/>
          </a:xfrm>
          <a:prstGeom prst="rect">
            <a:avLst/>
          </a:prstGeom>
          <a:noFill/>
          <a:ln/>
        </p:spPr>
        <p:txBody>
          <a:bodyPr wrap="square" lIns="0" tIns="0" rIns="0" bIns="0" rtlCol="0" anchor="ctr"/>
          <a:lstStyle/>
          <a:p>
            <a:pPr indent="0" marL="0">
              <a:lnSpc>
                <a:spcPts val="2800"/>
              </a:lnSpc>
              <a:buNone/>
            </a:pPr>
            <a:r>
              <a:rPr lang="en-US" sz="1900" b="1" dirty="0">
                <a:solidFill>
                  <a:srgbClr val="6D2E46"/>
                </a:solidFill>
                <a:latin typeface="Calibri" pitchFamily="34" charset="0"/>
                <a:ea typeface="Calibri" pitchFamily="34" charset="-122"/>
                <a:cs typeface="Calibri" pitchFamily="34" charset="-120"/>
              </a:rPr>
              <a:t>So I spent a week going through everything you've published — and everything the two accounts you sent me have published.</a:t>
            </a:r>
            <a:endParaRPr lang="en-US" sz="1900" dirty="0"/>
          </a:p>
        </p:txBody>
      </p:sp>
      <p:sp>
        <p:nvSpPr>
          <p:cNvPr id="8" name="Text 6"/>
          <p:cNvSpPr/>
          <p:nvPr/>
        </p:nvSpPr>
        <p:spPr>
          <a:xfrm>
            <a:off x="640080" y="534924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This is what I found.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BEFORE ANYTHING ELSE</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What I actually went through</a:t>
            </a:r>
            <a:endParaRPr lang="en-US" sz="3800" dirty="0"/>
          </a:p>
        </p:txBody>
      </p:sp>
      <p:sp>
        <p:nvSpPr>
          <p:cNvPr id="4" name="Text 2"/>
          <p:cNvSpPr/>
          <p:nvPr/>
        </p:nvSpPr>
        <p:spPr>
          <a:xfrm>
            <a:off x="640080" y="1737360"/>
            <a:ext cx="5394960" cy="274320"/>
          </a:xfrm>
          <a:prstGeom prst="rect">
            <a:avLst/>
          </a:prstGeom>
          <a:noFill/>
          <a:ln/>
        </p:spPr>
        <p:txBody>
          <a:bodyPr wrap="square" lIns="0" tIns="0" rIns="0" bIns="0" rtlCol="0" anchor="ctr"/>
          <a:lstStyle/>
          <a:p>
            <a:pPr indent="0" marL="0">
              <a:buNone/>
            </a:pPr>
            <a:r>
              <a:rPr lang="en-US" sz="1400" b="1" spc="100" kern="0" dirty="0">
                <a:solidFill>
                  <a:srgbClr val="6D2E46"/>
                </a:solidFill>
                <a:latin typeface="Calibri" pitchFamily="34" charset="0"/>
                <a:ea typeface="Calibri" pitchFamily="34" charset="-122"/>
                <a:cs typeface="Calibri" pitchFamily="34" charset="-120"/>
              </a:rPr>
              <a:t>YOUR SIDE</a:t>
            </a:r>
            <a:endParaRPr lang="en-US" sz="1400" dirty="0"/>
          </a:p>
        </p:txBody>
      </p:sp>
      <p:sp>
        <p:nvSpPr>
          <p:cNvPr id="5" name="Text 3"/>
          <p:cNvSpPr/>
          <p:nvPr/>
        </p:nvSpPr>
        <p:spPr>
          <a:xfrm>
            <a:off x="640080" y="2103120"/>
            <a:ext cx="5120640" cy="23774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All 34 posts on @juhiagarwal.coach — every cover, every hook</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Every caption, read in full — not skimmed</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Your Stories, including the growth-journey poll and the laptop teaser</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Your Threads account — every post and every reply you've written</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Your bio, your CTA, your highlights, your following count</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Your audio choices and posting rhythm</a:t>
            </a:r>
            <a:endParaRPr lang="en-US" sz="1400" dirty="0"/>
          </a:p>
        </p:txBody>
      </p:sp>
      <p:sp>
        <p:nvSpPr>
          <p:cNvPr id="6" name="Text 4"/>
          <p:cNvSpPr/>
          <p:nvPr/>
        </p:nvSpPr>
        <p:spPr>
          <a:xfrm>
            <a:off x="6400800" y="1737360"/>
            <a:ext cx="5120640" cy="274320"/>
          </a:xfrm>
          <a:prstGeom prst="rect">
            <a:avLst/>
          </a:prstGeom>
          <a:noFill/>
          <a:ln/>
        </p:spPr>
        <p:txBody>
          <a:bodyPr wrap="square" lIns="0" tIns="0" rIns="0" bIns="0" rtlCol="0" anchor="ctr"/>
          <a:lstStyle/>
          <a:p>
            <a:pPr indent="0" marL="0">
              <a:buNone/>
            </a:pPr>
            <a:r>
              <a:rPr lang="en-US" sz="1400" b="1" spc="100" kern="0" dirty="0">
                <a:solidFill>
                  <a:srgbClr val="6D2E46"/>
                </a:solidFill>
                <a:latin typeface="Calibri" pitchFamily="34" charset="0"/>
                <a:ea typeface="Calibri" pitchFamily="34" charset="-122"/>
                <a:cs typeface="Calibri" pitchFamily="34" charset="-120"/>
              </a:rPr>
              <a:t>THE TWO YOU SENT ME</a:t>
            </a:r>
            <a:endParaRPr lang="en-US" sz="1400" dirty="0"/>
          </a:p>
        </p:txBody>
      </p:sp>
      <p:sp>
        <p:nvSpPr>
          <p:cNvPr id="7" name="Text 5"/>
          <p:cNvSpPr/>
          <p:nvPr/>
        </p:nvSpPr>
        <p:spPr>
          <a:xfrm>
            <a:off x="6400800" y="2103120"/>
            <a:ext cx="4937760" cy="10058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@upgradingkatie — 369 posts, her pinned trio, her comment sections, her store, her manifesto post</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@melrobbins — her grid, guest structure, quote-card system</a:t>
            </a:r>
            <a:endParaRPr lang="en-US" sz="1400" dirty="0"/>
          </a:p>
        </p:txBody>
      </p:sp>
      <p:sp>
        <p:nvSpPr>
          <p:cNvPr id="8" name="Text 6"/>
          <p:cNvSpPr/>
          <p:nvPr/>
        </p:nvSpPr>
        <p:spPr>
          <a:xfrm>
            <a:off x="6400800" y="3200400"/>
            <a:ext cx="5120640" cy="274320"/>
          </a:xfrm>
          <a:prstGeom prst="rect">
            <a:avLst/>
          </a:prstGeom>
          <a:noFill/>
          <a:ln/>
        </p:spPr>
        <p:txBody>
          <a:bodyPr wrap="square" lIns="0" tIns="0" rIns="0" bIns="0" rtlCol="0" anchor="ctr"/>
          <a:lstStyle/>
          <a:p>
            <a:pPr indent="0" marL="0">
              <a:buNone/>
            </a:pPr>
            <a:r>
              <a:rPr lang="en-US" sz="1400" b="1" spc="100" kern="0" dirty="0">
                <a:solidFill>
                  <a:srgbClr val="6D2E46"/>
                </a:solidFill>
                <a:latin typeface="Calibri" pitchFamily="34" charset="0"/>
                <a:ea typeface="Calibri" pitchFamily="34" charset="-122"/>
                <a:cs typeface="Calibri" pitchFamily="34" charset="-120"/>
              </a:rPr>
              <a:t>THE MARKET</a:t>
            </a:r>
            <a:endParaRPr lang="en-US" sz="1400" dirty="0"/>
          </a:p>
        </p:txBody>
      </p:sp>
      <p:sp>
        <p:nvSpPr>
          <p:cNvPr id="9" name="Text 7"/>
          <p:cNvSpPr/>
          <p:nvPr/>
        </p:nvSpPr>
        <p:spPr>
          <a:xfrm>
            <a:off x="6400800" y="3566160"/>
            <a:ext cx="4937760" cy="14630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AI education in India — who it serves, and who it doesn't</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Mom content in India</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Women &amp; money content in India</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What Indian audiences actually pay for, and what they don't</a:t>
            </a:r>
            <a:endParaRPr lang="en-US" sz="1400" dirty="0"/>
          </a:p>
        </p:txBody>
      </p:sp>
      <p:sp>
        <p:nvSpPr>
          <p:cNvPr id="10" name="Shape 8"/>
          <p:cNvSpPr/>
          <p:nvPr/>
        </p:nvSpPr>
        <p:spPr>
          <a:xfrm>
            <a:off x="640080" y="4983480"/>
            <a:ext cx="10881360" cy="822960"/>
          </a:xfrm>
          <a:prstGeom prst="roundRect">
            <a:avLst>
              <a:gd name="adj" fmla="val 15556"/>
            </a:avLst>
          </a:prstGeom>
          <a:solidFill>
            <a:srgbClr val="6D2E46"/>
          </a:solidFill>
          <a:ln/>
        </p:spPr>
      </p:sp>
      <p:sp>
        <p:nvSpPr>
          <p:cNvPr id="11" name="Text 9"/>
          <p:cNvSpPr/>
          <p:nvPr/>
        </p:nvSpPr>
        <p:spPr>
          <a:xfrm>
            <a:off x="1051560" y="4983480"/>
            <a:ext cx="10058400"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Roughly </a:t>
            </a:r>
            <a:pPr indent="0" marL="0">
              <a:buNone/>
            </a:pPr>
            <a:r>
              <a:rPr lang="en-US" sz="1600" b="1" dirty="0">
                <a:solidFill>
                  <a:srgbClr val="D9A441"/>
                </a:solidFill>
                <a:latin typeface="Calibri" pitchFamily="34" charset="0"/>
                <a:ea typeface="Calibri" pitchFamily="34" charset="-122"/>
                <a:cs typeface="Calibri" pitchFamily="34" charset="-120"/>
              </a:rPr>
              <a:t>20 hours</a:t>
            </a:r>
            <a:pPr indent="0" marL="0">
              <a:buNone/>
            </a:pPr>
            <a:r>
              <a:rPr lang="en-US" sz="1600" dirty="0">
                <a:solidFill>
                  <a:srgbClr val="FFFFFF"/>
                </a:solidFill>
                <a:latin typeface="Calibri" pitchFamily="34" charset="0"/>
                <a:ea typeface="Calibri" pitchFamily="34" charset="-122"/>
                <a:cs typeface="Calibri" pitchFamily="34" charset="-120"/>
              </a:rPr>
              <a:t>. I wanted to come to you with something you hadn't already thought of.</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STARTING POINT</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Where you are today</a:t>
            </a:r>
            <a:endParaRPr lang="en-US" sz="3800" dirty="0"/>
          </a:p>
        </p:txBody>
      </p:sp>
      <p:sp>
        <p:nvSpPr>
          <p:cNvPr id="4" name="Shape 2"/>
          <p:cNvSpPr/>
          <p:nvPr/>
        </p:nvSpPr>
        <p:spPr>
          <a:xfrm>
            <a:off x="640080" y="1691640"/>
            <a:ext cx="1828800" cy="1188720"/>
          </a:xfrm>
          <a:prstGeom prst="roundRect">
            <a:avLst>
              <a:gd name="adj" fmla="val 10769"/>
            </a:avLst>
          </a:prstGeom>
          <a:solidFill>
            <a:srgbClr val="F7F2F4"/>
          </a:solidFill>
          <a:ln/>
        </p:spPr>
      </p:sp>
      <p:sp>
        <p:nvSpPr>
          <p:cNvPr id="5" name="Text 3"/>
          <p:cNvSpPr/>
          <p:nvPr/>
        </p:nvSpPr>
        <p:spPr>
          <a:xfrm>
            <a:off x="896112" y="1874520"/>
            <a:ext cx="1371600" cy="502920"/>
          </a:xfrm>
          <a:prstGeom prst="rect">
            <a:avLst/>
          </a:prstGeom>
          <a:noFill/>
          <a:ln/>
        </p:spPr>
        <p:txBody>
          <a:bodyPr wrap="square" lIns="0" tIns="0" rIns="0" bIns="0" rtlCol="0" anchor="ctr"/>
          <a:lstStyle/>
          <a:p>
            <a:pPr indent="0" marL="0">
              <a:buNone/>
            </a:pPr>
            <a:r>
              <a:rPr lang="en-US" sz="3200" b="1" dirty="0">
                <a:solidFill>
                  <a:srgbClr val="6D2E46"/>
                </a:solidFill>
                <a:latin typeface="Cambria" pitchFamily="34" charset="0"/>
                <a:ea typeface="Cambria" pitchFamily="34" charset="-122"/>
                <a:cs typeface="Cambria" pitchFamily="34" charset="-120"/>
              </a:rPr>
              <a:t>34</a:t>
            </a:r>
            <a:endParaRPr lang="en-US" sz="3200" dirty="0"/>
          </a:p>
        </p:txBody>
      </p:sp>
      <p:sp>
        <p:nvSpPr>
          <p:cNvPr id="6" name="Text 4"/>
          <p:cNvSpPr/>
          <p:nvPr/>
        </p:nvSpPr>
        <p:spPr>
          <a:xfrm>
            <a:off x="896112" y="2395728"/>
            <a:ext cx="1417320" cy="411480"/>
          </a:xfrm>
          <a:prstGeom prst="rect">
            <a:avLst/>
          </a:prstGeom>
          <a:noFill/>
          <a:ln/>
        </p:spPr>
        <p:txBody>
          <a:bodyPr wrap="square" lIns="0" tIns="0" rIns="0" bIns="0" rtlCol="0" anchor="ctr"/>
          <a:lstStyle/>
          <a:p>
            <a:pPr indent="0" marL="0">
              <a:lnSpc>
                <a:spcPts val="1500"/>
              </a:lnSpc>
              <a:buNone/>
            </a:pPr>
            <a:r>
              <a:rPr lang="en-US" sz="1150" dirty="0">
                <a:solidFill>
                  <a:srgbClr val="7A6068"/>
                </a:solidFill>
                <a:latin typeface="Calibri" pitchFamily="34" charset="0"/>
                <a:ea typeface="Calibri" pitchFamily="34" charset="-122"/>
                <a:cs typeface="Calibri" pitchFamily="34" charset="-120"/>
              </a:rPr>
              <a:t>posts published</a:t>
            </a:r>
            <a:endParaRPr lang="en-US" sz="1150" dirty="0"/>
          </a:p>
        </p:txBody>
      </p:sp>
      <p:sp>
        <p:nvSpPr>
          <p:cNvPr id="7" name="Shape 5"/>
          <p:cNvSpPr/>
          <p:nvPr/>
        </p:nvSpPr>
        <p:spPr>
          <a:xfrm>
            <a:off x="2852928" y="1691640"/>
            <a:ext cx="1828800" cy="1188720"/>
          </a:xfrm>
          <a:prstGeom prst="roundRect">
            <a:avLst>
              <a:gd name="adj" fmla="val 10769"/>
            </a:avLst>
          </a:prstGeom>
          <a:solidFill>
            <a:srgbClr val="F7F2F4"/>
          </a:solidFill>
          <a:ln/>
        </p:spPr>
      </p:sp>
      <p:sp>
        <p:nvSpPr>
          <p:cNvPr id="8" name="Text 6"/>
          <p:cNvSpPr/>
          <p:nvPr/>
        </p:nvSpPr>
        <p:spPr>
          <a:xfrm>
            <a:off x="3108960" y="1874520"/>
            <a:ext cx="1371600" cy="502920"/>
          </a:xfrm>
          <a:prstGeom prst="rect">
            <a:avLst/>
          </a:prstGeom>
          <a:noFill/>
          <a:ln/>
        </p:spPr>
        <p:txBody>
          <a:bodyPr wrap="square" lIns="0" tIns="0" rIns="0" bIns="0" rtlCol="0" anchor="ctr"/>
          <a:lstStyle/>
          <a:p>
            <a:pPr indent="0" marL="0">
              <a:buNone/>
            </a:pPr>
            <a:r>
              <a:rPr lang="en-US" sz="3200" b="1" dirty="0">
                <a:solidFill>
                  <a:srgbClr val="6D2E46"/>
                </a:solidFill>
                <a:latin typeface="Cambria" pitchFamily="34" charset="0"/>
                <a:ea typeface="Cambria" pitchFamily="34" charset="-122"/>
                <a:cs typeface="Cambria" pitchFamily="34" charset="-120"/>
              </a:rPr>
              <a:t>1,209</a:t>
            </a:r>
            <a:endParaRPr lang="en-US" sz="3200" dirty="0"/>
          </a:p>
        </p:txBody>
      </p:sp>
      <p:sp>
        <p:nvSpPr>
          <p:cNvPr id="9" name="Text 7"/>
          <p:cNvSpPr/>
          <p:nvPr/>
        </p:nvSpPr>
        <p:spPr>
          <a:xfrm>
            <a:off x="3108960" y="2395728"/>
            <a:ext cx="1417320" cy="411480"/>
          </a:xfrm>
          <a:prstGeom prst="rect">
            <a:avLst/>
          </a:prstGeom>
          <a:noFill/>
          <a:ln/>
        </p:spPr>
        <p:txBody>
          <a:bodyPr wrap="square" lIns="0" tIns="0" rIns="0" bIns="0" rtlCol="0" anchor="ctr"/>
          <a:lstStyle/>
          <a:p>
            <a:pPr indent="0" marL="0">
              <a:lnSpc>
                <a:spcPts val="1500"/>
              </a:lnSpc>
              <a:buNone/>
            </a:pPr>
            <a:r>
              <a:rPr lang="en-US" sz="1150" dirty="0">
                <a:solidFill>
                  <a:srgbClr val="7A6068"/>
                </a:solidFill>
                <a:latin typeface="Calibri" pitchFamily="34" charset="0"/>
                <a:ea typeface="Calibri" pitchFamily="34" charset="-122"/>
                <a:cs typeface="Calibri" pitchFamily="34" charset="-120"/>
              </a:rPr>
              <a:t>followers</a:t>
            </a:r>
            <a:endParaRPr lang="en-US" sz="1150" dirty="0"/>
          </a:p>
        </p:txBody>
      </p:sp>
      <p:sp>
        <p:nvSpPr>
          <p:cNvPr id="10" name="Shape 8"/>
          <p:cNvSpPr/>
          <p:nvPr/>
        </p:nvSpPr>
        <p:spPr>
          <a:xfrm>
            <a:off x="5065776" y="1691640"/>
            <a:ext cx="1828800" cy="1188720"/>
          </a:xfrm>
          <a:prstGeom prst="roundRect">
            <a:avLst>
              <a:gd name="adj" fmla="val 10769"/>
            </a:avLst>
          </a:prstGeom>
          <a:solidFill>
            <a:srgbClr val="F7F2F4"/>
          </a:solidFill>
          <a:ln/>
        </p:spPr>
      </p:sp>
      <p:sp>
        <p:nvSpPr>
          <p:cNvPr id="11" name="Text 9"/>
          <p:cNvSpPr/>
          <p:nvPr/>
        </p:nvSpPr>
        <p:spPr>
          <a:xfrm>
            <a:off x="5321808" y="1874520"/>
            <a:ext cx="1371600" cy="502920"/>
          </a:xfrm>
          <a:prstGeom prst="rect">
            <a:avLst/>
          </a:prstGeom>
          <a:noFill/>
          <a:ln/>
        </p:spPr>
        <p:txBody>
          <a:bodyPr wrap="square" lIns="0" tIns="0" rIns="0" bIns="0" rtlCol="0" anchor="ctr"/>
          <a:lstStyle/>
          <a:p>
            <a:pPr indent="0" marL="0">
              <a:buNone/>
            </a:pPr>
            <a:r>
              <a:rPr lang="en-US" sz="3200" b="1" dirty="0">
                <a:solidFill>
                  <a:srgbClr val="6D2E46"/>
                </a:solidFill>
                <a:latin typeface="Cambria" pitchFamily="34" charset="0"/>
                <a:ea typeface="Cambria" pitchFamily="34" charset="-122"/>
                <a:cs typeface="Cambria" pitchFamily="34" charset="-120"/>
              </a:rPr>
              <a:t>5</a:t>
            </a:r>
            <a:endParaRPr lang="en-US" sz="3200" dirty="0"/>
          </a:p>
        </p:txBody>
      </p:sp>
      <p:sp>
        <p:nvSpPr>
          <p:cNvPr id="12" name="Text 10"/>
          <p:cNvSpPr/>
          <p:nvPr/>
        </p:nvSpPr>
        <p:spPr>
          <a:xfrm>
            <a:off x="5321808" y="2395728"/>
            <a:ext cx="1417320" cy="411480"/>
          </a:xfrm>
          <a:prstGeom prst="rect">
            <a:avLst/>
          </a:prstGeom>
          <a:noFill/>
          <a:ln/>
        </p:spPr>
        <p:txBody>
          <a:bodyPr wrap="square" lIns="0" tIns="0" rIns="0" bIns="0" rtlCol="0" anchor="ctr"/>
          <a:lstStyle/>
          <a:p>
            <a:pPr indent="0" marL="0">
              <a:lnSpc>
                <a:spcPts val="1500"/>
              </a:lnSpc>
              <a:buNone/>
            </a:pPr>
            <a:r>
              <a:rPr lang="en-US" sz="1150" dirty="0">
                <a:solidFill>
                  <a:srgbClr val="7A6068"/>
                </a:solidFill>
                <a:latin typeface="Calibri" pitchFamily="34" charset="0"/>
                <a:ea typeface="Calibri" pitchFamily="34" charset="-122"/>
                <a:cs typeface="Calibri" pitchFamily="34" charset="-120"/>
              </a:rPr>
              <a:t>accounts you follow</a:t>
            </a:r>
            <a:endParaRPr lang="en-US" sz="1150" dirty="0"/>
          </a:p>
        </p:txBody>
      </p:sp>
      <p:sp>
        <p:nvSpPr>
          <p:cNvPr id="13" name="Shape 11"/>
          <p:cNvSpPr/>
          <p:nvPr/>
        </p:nvSpPr>
        <p:spPr>
          <a:xfrm>
            <a:off x="7278624" y="1691640"/>
            <a:ext cx="1828800" cy="1188720"/>
          </a:xfrm>
          <a:prstGeom prst="roundRect">
            <a:avLst>
              <a:gd name="adj" fmla="val 10769"/>
            </a:avLst>
          </a:prstGeom>
          <a:solidFill>
            <a:srgbClr val="F7F2F4"/>
          </a:solidFill>
          <a:ln/>
        </p:spPr>
      </p:sp>
      <p:sp>
        <p:nvSpPr>
          <p:cNvPr id="14" name="Text 12"/>
          <p:cNvSpPr/>
          <p:nvPr/>
        </p:nvSpPr>
        <p:spPr>
          <a:xfrm>
            <a:off x="7534656" y="1874520"/>
            <a:ext cx="1371600" cy="502920"/>
          </a:xfrm>
          <a:prstGeom prst="rect">
            <a:avLst/>
          </a:prstGeom>
          <a:noFill/>
          <a:ln/>
        </p:spPr>
        <p:txBody>
          <a:bodyPr wrap="square" lIns="0" tIns="0" rIns="0" bIns="0" rtlCol="0" anchor="ctr"/>
          <a:lstStyle/>
          <a:p>
            <a:pPr indent="0" marL="0">
              <a:buNone/>
            </a:pPr>
            <a:r>
              <a:rPr lang="en-US" sz="3200" b="1" dirty="0">
                <a:solidFill>
                  <a:srgbClr val="6D2E46"/>
                </a:solidFill>
                <a:latin typeface="Cambria" pitchFamily="34" charset="0"/>
                <a:ea typeface="Cambria" pitchFamily="34" charset="-122"/>
                <a:cs typeface="Cambria" pitchFamily="34" charset="-120"/>
              </a:rPr>
              <a:t>1</a:t>
            </a:r>
            <a:endParaRPr lang="en-US" sz="3200" dirty="0"/>
          </a:p>
        </p:txBody>
      </p:sp>
      <p:sp>
        <p:nvSpPr>
          <p:cNvPr id="15" name="Text 13"/>
          <p:cNvSpPr/>
          <p:nvPr/>
        </p:nvSpPr>
        <p:spPr>
          <a:xfrm>
            <a:off x="7534656" y="2395728"/>
            <a:ext cx="1417320" cy="411480"/>
          </a:xfrm>
          <a:prstGeom prst="rect">
            <a:avLst/>
          </a:prstGeom>
          <a:noFill/>
          <a:ln/>
        </p:spPr>
        <p:txBody>
          <a:bodyPr wrap="square" lIns="0" tIns="0" rIns="0" bIns="0" rtlCol="0" anchor="ctr"/>
          <a:lstStyle/>
          <a:p>
            <a:pPr indent="0" marL="0">
              <a:lnSpc>
                <a:spcPts val="1500"/>
              </a:lnSpc>
              <a:buNone/>
            </a:pPr>
            <a:r>
              <a:rPr lang="en-US" sz="1150" dirty="0">
                <a:solidFill>
                  <a:srgbClr val="7A6068"/>
                </a:solidFill>
                <a:latin typeface="Calibri" pitchFamily="34" charset="0"/>
                <a:ea typeface="Calibri" pitchFamily="34" charset="-122"/>
                <a:cs typeface="Calibri" pitchFamily="34" charset="-120"/>
              </a:rPr>
              <a:t>story highlight</a:t>
            </a:r>
            <a:endParaRPr lang="en-US" sz="1150" dirty="0"/>
          </a:p>
        </p:txBody>
      </p:sp>
      <p:sp>
        <p:nvSpPr>
          <p:cNvPr id="16" name="Shape 14"/>
          <p:cNvSpPr/>
          <p:nvPr/>
        </p:nvSpPr>
        <p:spPr>
          <a:xfrm>
            <a:off x="9491472" y="1691640"/>
            <a:ext cx="1828800" cy="1188720"/>
          </a:xfrm>
          <a:prstGeom prst="roundRect">
            <a:avLst>
              <a:gd name="adj" fmla="val 10769"/>
            </a:avLst>
          </a:prstGeom>
          <a:solidFill>
            <a:srgbClr val="F7F2F4"/>
          </a:solidFill>
          <a:ln/>
        </p:spPr>
      </p:sp>
      <p:sp>
        <p:nvSpPr>
          <p:cNvPr id="17" name="Text 15"/>
          <p:cNvSpPr/>
          <p:nvPr/>
        </p:nvSpPr>
        <p:spPr>
          <a:xfrm>
            <a:off x="9747504" y="1874520"/>
            <a:ext cx="1371600" cy="502920"/>
          </a:xfrm>
          <a:prstGeom prst="rect">
            <a:avLst/>
          </a:prstGeom>
          <a:noFill/>
          <a:ln/>
        </p:spPr>
        <p:txBody>
          <a:bodyPr wrap="square" lIns="0" tIns="0" rIns="0" bIns="0" rtlCol="0" anchor="ctr"/>
          <a:lstStyle/>
          <a:p>
            <a:pPr indent="0" marL="0">
              <a:buNone/>
            </a:pPr>
            <a:r>
              <a:rPr lang="en-US" sz="3200" b="1" dirty="0">
                <a:solidFill>
                  <a:srgbClr val="6D2E46"/>
                </a:solidFill>
                <a:latin typeface="Cambria" pitchFamily="34" charset="0"/>
                <a:ea typeface="Cambria" pitchFamily="34" charset="-122"/>
                <a:cs typeface="Cambria" pitchFamily="34" charset="-120"/>
              </a:rPr>
              <a:t>0</a:t>
            </a:r>
            <a:endParaRPr lang="en-US" sz="3200" dirty="0"/>
          </a:p>
        </p:txBody>
      </p:sp>
      <p:sp>
        <p:nvSpPr>
          <p:cNvPr id="18" name="Text 16"/>
          <p:cNvSpPr/>
          <p:nvPr/>
        </p:nvSpPr>
        <p:spPr>
          <a:xfrm>
            <a:off x="9747504" y="2395728"/>
            <a:ext cx="1417320" cy="411480"/>
          </a:xfrm>
          <a:prstGeom prst="rect">
            <a:avLst/>
          </a:prstGeom>
          <a:noFill/>
          <a:ln/>
        </p:spPr>
        <p:txBody>
          <a:bodyPr wrap="square" lIns="0" tIns="0" rIns="0" bIns="0" rtlCol="0" anchor="ctr"/>
          <a:lstStyle/>
          <a:p>
            <a:pPr indent="0" marL="0">
              <a:lnSpc>
                <a:spcPts val="1500"/>
              </a:lnSpc>
              <a:buNone/>
            </a:pPr>
            <a:r>
              <a:rPr lang="en-US" sz="1150" dirty="0">
                <a:solidFill>
                  <a:srgbClr val="7A6068"/>
                </a:solidFill>
                <a:latin typeface="Calibri" pitchFamily="34" charset="0"/>
                <a:ea typeface="Calibri" pitchFamily="34" charset="-122"/>
                <a:cs typeface="Calibri" pitchFamily="34" charset="-120"/>
              </a:rPr>
              <a:t>pinned posts</a:t>
            </a:r>
            <a:endParaRPr lang="en-US" sz="1150" dirty="0"/>
          </a:p>
        </p:txBody>
      </p:sp>
      <p:sp>
        <p:nvSpPr>
          <p:cNvPr id="19" name="Text 17"/>
          <p:cNvSpPr/>
          <p:nvPr/>
        </p:nvSpPr>
        <p:spPr>
          <a:xfrm>
            <a:off x="640080" y="3337560"/>
            <a:ext cx="10515600" cy="548640"/>
          </a:xfrm>
          <a:prstGeom prst="rect">
            <a:avLst/>
          </a:prstGeom>
          <a:noFill/>
          <a:ln/>
        </p:spPr>
        <p:txBody>
          <a:bodyPr wrap="square" lIns="0" tIns="0" rIns="0" bIns="0" rtlCol="0" anchor="ctr"/>
          <a:lstStyle/>
          <a:p>
            <a:pPr indent="0" marL="0">
              <a:lnSpc>
                <a:spcPts val="2600"/>
              </a:lnSpc>
              <a:buNone/>
            </a:pPr>
            <a:r>
              <a:rPr lang="en-US" sz="1900" b="1" dirty="0">
                <a:solidFill>
                  <a:srgbClr val="6D2E46"/>
                </a:solidFill>
                <a:latin typeface="Calibri" pitchFamily="34" charset="0"/>
                <a:ea typeface="Calibri" pitchFamily="34" charset="-122"/>
                <a:cs typeface="Calibri" pitchFamily="34" charset="-120"/>
              </a:rPr>
              <a:t>Here's the thing I want to say before anything else: you are doing more right than you think.</a:t>
            </a:r>
            <a:endParaRPr lang="en-US" sz="1900" dirty="0"/>
          </a:p>
        </p:txBody>
      </p:sp>
      <p:sp>
        <p:nvSpPr>
          <p:cNvPr id="20" name="Text 18"/>
          <p:cNvSpPr/>
          <p:nvPr/>
        </p:nvSpPr>
        <p:spPr>
          <a:xfrm>
            <a:off x="640080" y="3977640"/>
            <a:ext cx="5212080" cy="502920"/>
          </a:xfrm>
          <a:prstGeom prst="rect">
            <a:avLst/>
          </a:prstGeom>
          <a:noFill/>
          <a:ln/>
        </p:spPr>
        <p:txBody>
          <a:bodyPr wrap="square" lIns="0" tIns="0" rIns="0" bIns="0" rtlCol="0" anchor="ctr"/>
          <a:lstStyle/>
          <a:p>
            <a:pPr indent="0" marL="0">
              <a:lnSpc>
                <a:spcPts val="2000"/>
              </a:lnSpc>
              <a:buNone/>
            </a:pPr>
            <a:r>
              <a:rPr lang="en-US" sz="1400" dirty="0">
                <a:solidFill>
                  <a:srgbClr val="2B1620"/>
                </a:solidFill>
                <a:latin typeface="Calibri" pitchFamily="34" charset="0"/>
                <a:ea typeface="Calibri" pitchFamily="34" charset="-122"/>
                <a:cs typeface="Calibri" pitchFamily="34" charset="-120"/>
              </a:rPr>
              <a:t>✓   You post consistently. Most people quit before 34.</a:t>
            </a:r>
            <a:endParaRPr lang="en-US" sz="1400" dirty="0"/>
          </a:p>
        </p:txBody>
      </p:sp>
      <p:sp>
        <p:nvSpPr>
          <p:cNvPr id="21" name="Text 19"/>
          <p:cNvSpPr/>
          <p:nvPr/>
        </p:nvSpPr>
        <p:spPr>
          <a:xfrm>
            <a:off x="6126480" y="3977640"/>
            <a:ext cx="5212080" cy="502920"/>
          </a:xfrm>
          <a:prstGeom prst="rect">
            <a:avLst/>
          </a:prstGeom>
          <a:noFill/>
          <a:ln/>
        </p:spPr>
        <p:txBody>
          <a:bodyPr wrap="square" lIns="0" tIns="0" rIns="0" bIns="0" rtlCol="0" anchor="ctr"/>
          <a:lstStyle/>
          <a:p>
            <a:pPr indent="0" marL="0">
              <a:lnSpc>
                <a:spcPts val="2000"/>
              </a:lnSpc>
              <a:buNone/>
            </a:pPr>
            <a:r>
              <a:rPr lang="en-US" sz="1400" dirty="0">
                <a:solidFill>
                  <a:srgbClr val="2B1620"/>
                </a:solidFill>
                <a:latin typeface="Calibri" pitchFamily="34" charset="0"/>
                <a:ea typeface="Calibri" pitchFamily="34" charset="-122"/>
                <a:cs typeface="Calibri" pitchFamily="34" charset="-120"/>
              </a:rPr>
              <a:t>✓   You write genuinely well. Your captions are the best thing on the account.</a:t>
            </a:r>
            <a:endParaRPr lang="en-US" sz="1400" dirty="0"/>
          </a:p>
        </p:txBody>
      </p:sp>
      <p:sp>
        <p:nvSpPr>
          <p:cNvPr id="22" name="Text 20"/>
          <p:cNvSpPr/>
          <p:nvPr/>
        </p:nvSpPr>
        <p:spPr>
          <a:xfrm>
            <a:off x="640080" y="4544568"/>
            <a:ext cx="5212080" cy="502920"/>
          </a:xfrm>
          <a:prstGeom prst="rect">
            <a:avLst/>
          </a:prstGeom>
          <a:noFill/>
          <a:ln/>
        </p:spPr>
        <p:txBody>
          <a:bodyPr wrap="square" lIns="0" tIns="0" rIns="0" bIns="0" rtlCol="0" anchor="ctr"/>
          <a:lstStyle/>
          <a:p>
            <a:pPr indent="0" marL="0">
              <a:lnSpc>
                <a:spcPts val="2000"/>
              </a:lnSpc>
              <a:buNone/>
            </a:pPr>
            <a:r>
              <a:rPr lang="en-US" sz="1400" dirty="0">
                <a:solidFill>
                  <a:srgbClr val="2B1620"/>
                </a:solidFill>
                <a:latin typeface="Calibri" pitchFamily="34" charset="0"/>
                <a:ea typeface="Calibri" pitchFamily="34" charset="-122"/>
                <a:cs typeface="Calibri" pitchFamily="34" charset="-120"/>
              </a:rPr>
              <a:t>✓   You're comfortable on camera. That's rarer than you think.</a:t>
            </a:r>
            <a:endParaRPr lang="en-US" sz="1400" dirty="0"/>
          </a:p>
        </p:txBody>
      </p:sp>
      <p:sp>
        <p:nvSpPr>
          <p:cNvPr id="23" name="Text 21"/>
          <p:cNvSpPr/>
          <p:nvPr/>
        </p:nvSpPr>
        <p:spPr>
          <a:xfrm>
            <a:off x="6126480" y="4544568"/>
            <a:ext cx="5212080" cy="502920"/>
          </a:xfrm>
          <a:prstGeom prst="rect">
            <a:avLst/>
          </a:prstGeom>
          <a:noFill/>
          <a:ln/>
        </p:spPr>
        <p:txBody>
          <a:bodyPr wrap="square" lIns="0" tIns="0" rIns="0" bIns="0" rtlCol="0" anchor="ctr"/>
          <a:lstStyle/>
          <a:p>
            <a:pPr indent="0" marL="0">
              <a:lnSpc>
                <a:spcPts val="2000"/>
              </a:lnSpc>
              <a:buNone/>
            </a:pPr>
            <a:r>
              <a:rPr lang="en-US" sz="1400" dirty="0">
                <a:solidFill>
                  <a:srgbClr val="2B1620"/>
                </a:solidFill>
                <a:latin typeface="Calibri" pitchFamily="34" charset="0"/>
                <a:ea typeface="Calibri" pitchFamily="34" charset="-122"/>
                <a:cs typeface="Calibri" pitchFamily="34" charset="-120"/>
              </a:rPr>
              <a:t>✓   You spotted Katie yourself. You can read a market.</a:t>
            </a:r>
            <a:endParaRPr lang="en-US" sz="1400" dirty="0"/>
          </a:p>
        </p:txBody>
      </p:sp>
      <p:sp>
        <p:nvSpPr>
          <p:cNvPr id="24" name="Text 22"/>
          <p:cNvSpPr/>
          <p:nvPr/>
        </p:nvSpPr>
        <p:spPr>
          <a:xfrm>
            <a:off x="640080" y="5111496"/>
            <a:ext cx="5212080" cy="502920"/>
          </a:xfrm>
          <a:prstGeom prst="rect">
            <a:avLst/>
          </a:prstGeom>
          <a:noFill/>
          <a:ln/>
        </p:spPr>
        <p:txBody>
          <a:bodyPr wrap="square" lIns="0" tIns="0" rIns="0" bIns="0" rtlCol="0" anchor="ctr"/>
          <a:lstStyle/>
          <a:p>
            <a:pPr indent="0" marL="0">
              <a:lnSpc>
                <a:spcPts val="2000"/>
              </a:lnSpc>
              <a:buNone/>
            </a:pPr>
            <a:r>
              <a:rPr lang="en-US" sz="1400" dirty="0">
                <a:solidFill>
                  <a:srgbClr val="2B1620"/>
                </a:solidFill>
                <a:latin typeface="Calibri" pitchFamily="34" charset="0"/>
                <a:ea typeface="Calibri" pitchFamily="34" charset="-122"/>
                <a:cs typeface="Calibri" pitchFamily="34" charset="-120"/>
              </a:rPr>
              <a:t>✓   You're already networking — I saw your Threads replies.</a:t>
            </a:r>
            <a:endParaRPr lang="en-US" sz="1400" dirty="0"/>
          </a:p>
        </p:txBody>
      </p:sp>
      <p:sp>
        <p:nvSpPr>
          <p:cNvPr id="25" name="Text 23"/>
          <p:cNvSpPr/>
          <p:nvPr/>
        </p:nvSpPr>
        <p:spPr>
          <a:xfrm>
            <a:off x="6126480" y="5111496"/>
            <a:ext cx="5212080" cy="502920"/>
          </a:xfrm>
          <a:prstGeom prst="rect">
            <a:avLst/>
          </a:prstGeom>
          <a:noFill/>
          <a:ln/>
        </p:spPr>
        <p:txBody>
          <a:bodyPr wrap="square" lIns="0" tIns="0" rIns="0" bIns="0" rtlCol="0" anchor="ctr"/>
          <a:lstStyle/>
          <a:p>
            <a:pPr indent="0" marL="0">
              <a:lnSpc>
                <a:spcPts val="2000"/>
              </a:lnSpc>
              <a:buNone/>
            </a:pPr>
            <a:r>
              <a:rPr lang="en-US" sz="1400" dirty="0">
                <a:solidFill>
                  <a:srgbClr val="2B1620"/>
                </a:solidFill>
                <a:latin typeface="Calibri" pitchFamily="34" charset="0"/>
                <a:ea typeface="Calibri" pitchFamily="34" charset="-122"/>
                <a:cs typeface="Calibri" pitchFamily="34" charset="-120"/>
              </a:rPr>
              <a:t>✓   You test things. The slider poll story was a good instinct.</a:t>
            </a:r>
            <a:endParaRPr lang="en-US" sz="1400" dirty="0"/>
          </a:p>
        </p:txBody>
      </p:sp>
      <p:sp>
        <p:nvSpPr>
          <p:cNvPr id="26" name="Text 24"/>
          <p:cNvSpPr/>
          <p:nvPr/>
        </p:nvSpPr>
        <p:spPr>
          <a:xfrm>
            <a:off x="640080" y="571500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problem isn't effort. It's that the effort is going in five directions.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PATTERN 01</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Five places you show up. Five different Juhis.</a:t>
            </a:r>
            <a:endParaRPr lang="en-US" sz="3800" dirty="0"/>
          </a:p>
        </p:txBody>
      </p:sp>
      <p:sp>
        <p:nvSpPr>
          <p:cNvPr id="4" name="Shape 2"/>
          <p:cNvSpPr/>
          <p:nvPr/>
        </p:nvSpPr>
        <p:spPr>
          <a:xfrm>
            <a:off x="640080" y="1737360"/>
            <a:ext cx="10881360" cy="566928"/>
          </a:xfrm>
          <a:prstGeom prst="roundRect">
            <a:avLst>
              <a:gd name="adj" fmla="val 16129"/>
            </a:avLst>
          </a:prstGeom>
          <a:solidFill>
            <a:srgbClr val="F7F2F4"/>
          </a:solidFill>
          <a:ln/>
        </p:spPr>
      </p:sp>
      <p:sp>
        <p:nvSpPr>
          <p:cNvPr id="5" name="Text 3"/>
          <p:cNvSpPr/>
          <p:nvPr/>
        </p:nvSpPr>
        <p:spPr>
          <a:xfrm>
            <a:off x="932688" y="1737360"/>
            <a:ext cx="2194560" cy="566928"/>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bio</a:t>
            </a:r>
            <a:endParaRPr lang="en-US" sz="1300" dirty="0"/>
          </a:p>
        </p:txBody>
      </p:sp>
      <p:sp>
        <p:nvSpPr>
          <p:cNvPr id="6" name="Text 4"/>
          <p:cNvSpPr/>
          <p:nvPr/>
        </p:nvSpPr>
        <p:spPr>
          <a:xfrm>
            <a:off x="3246120" y="1737360"/>
            <a:ext cx="7955280" cy="566928"/>
          </a:xfrm>
          <a:prstGeom prst="rect">
            <a:avLst/>
          </a:prstGeom>
          <a:noFill/>
          <a:ln/>
        </p:spPr>
        <p:txBody>
          <a:bodyPr wrap="square" lIns="0" tIns="0" rIns="0" bIns="0" rtlCol="0" anchor="ctr"/>
          <a:lstStyle/>
          <a:p>
            <a:pPr indent="0" marL="0">
              <a:buNone/>
            </a:pPr>
            <a:r>
              <a:rPr lang="en-US" sz="1500" dirty="0">
                <a:solidFill>
                  <a:srgbClr val="2B1620"/>
                </a:solidFill>
                <a:latin typeface="Calibri" pitchFamily="34" charset="0"/>
                <a:ea typeface="Calibri" pitchFamily="34" charset="-122"/>
                <a:cs typeface="Calibri" pitchFamily="34" charset="-120"/>
              </a:rPr>
              <a:t>Helping ambitious women overcome burnout</a:t>
            </a:r>
            <a:endParaRPr lang="en-US" sz="1500" dirty="0"/>
          </a:p>
        </p:txBody>
      </p:sp>
      <p:sp>
        <p:nvSpPr>
          <p:cNvPr id="7" name="Shape 5"/>
          <p:cNvSpPr/>
          <p:nvPr/>
        </p:nvSpPr>
        <p:spPr>
          <a:xfrm>
            <a:off x="640080" y="2395728"/>
            <a:ext cx="10881360" cy="566928"/>
          </a:xfrm>
          <a:prstGeom prst="roundRect">
            <a:avLst>
              <a:gd name="adj" fmla="val 16129"/>
            </a:avLst>
          </a:prstGeom>
          <a:solidFill>
            <a:srgbClr val="F7F2F4"/>
          </a:solidFill>
          <a:ln/>
        </p:spPr>
      </p:sp>
      <p:sp>
        <p:nvSpPr>
          <p:cNvPr id="8" name="Text 6"/>
          <p:cNvSpPr/>
          <p:nvPr/>
        </p:nvSpPr>
        <p:spPr>
          <a:xfrm>
            <a:off x="932688" y="2395728"/>
            <a:ext cx="2194560" cy="566928"/>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bio sub-line</a:t>
            </a:r>
            <a:endParaRPr lang="en-US" sz="1300" dirty="0"/>
          </a:p>
        </p:txBody>
      </p:sp>
      <p:sp>
        <p:nvSpPr>
          <p:cNvPr id="9" name="Text 7"/>
          <p:cNvSpPr/>
          <p:nvPr/>
        </p:nvSpPr>
        <p:spPr>
          <a:xfrm>
            <a:off x="3246120" y="2395728"/>
            <a:ext cx="7955280" cy="566928"/>
          </a:xfrm>
          <a:prstGeom prst="rect">
            <a:avLst/>
          </a:prstGeom>
          <a:noFill/>
          <a:ln/>
        </p:spPr>
        <p:txBody>
          <a:bodyPr wrap="square" lIns="0" tIns="0" rIns="0" bIns="0" rtlCol="0" anchor="ctr"/>
          <a:lstStyle/>
          <a:p>
            <a:pPr indent="0" marL="0">
              <a:buNone/>
            </a:pPr>
            <a:r>
              <a:rPr lang="en-US" sz="1500" dirty="0">
                <a:solidFill>
                  <a:srgbClr val="2B1620"/>
                </a:solidFill>
                <a:latin typeface="Calibri" pitchFamily="34" charset="0"/>
                <a:ea typeface="Calibri" pitchFamily="34" charset="-122"/>
                <a:cs typeface="Calibri" pitchFamily="34" charset="-120"/>
              </a:rPr>
              <a:t>Mindset · Healing · Confidence</a:t>
            </a:r>
            <a:endParaRPr lang="en-US" sz="1500" dirty="0"/>
          </a:p>
        </p:txBody>
      </p:sp>
      <p:sp>
        <p:nvSpPr>
          <p:cNvPr id="10" name="Shape 8"/>
          <p:cNvSpPr/>
          <p:nvPr/>
        </p:nvSpPr>
        <p:spPr>
          <a:xfrm>
            <a:off x="640080" y="3054096"/>
            <a:ext cx="10881360" cy="566928"/>
          </a:xfrm>
          <a:prstGeom prst="roundRect">
            <a:avLst>
              <a:gd name="adj" fmla="val 16129"/>
            </a:avLst>
          </a:prstGeom>
          <a:solidFill>
            <a:srgbClr val="F7F2F4"/>
          </a:solidFill>
          <a:ln/>
        </p:spPr>
      </p:sp>
      <p:sp>
        <p:nvSpPr>
          <p:cNvPr id="11" name="Text 9"/>
          <p:cNvSpPr/>
          <p:nvPr/>
        </p:nvSpPr>
        <p:spPr>
          <a:xfrm>
            <a:off x="932688" y="3054096"/>
            <a:ext cx="2194560" cy="566928"/>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All 34 posts</a:t>
            </a:r>
            <a:endParaRPr lang="en-US" sz="1300" dirty="0"/>
          </a:p>
        </p:txBody>
      </p:sp>
      <p:sp>
        <p:nvSpPr>
          <p:cNvPr id="12" name="Text 10"/>
          <p:cNvSpPr/>
          <p:nvPr/>
        </p:nvSpPr>
        <p:spPr>
          <a:xfrm>
            <a:off x="3246120" y="3054096"/>
            <a:ext cx="7955280" cy="566928"/>
          </a:xfrm>
          <a:prstGeom prst="rect">
            <a:avLst/>
          </a:prstGeom>
          <a:noFill/>
          <a:ln/>
        </p:spPr>
        <p:txBody>
          <a:bodyPr wrap="square" lIns="0" tIns="0" rIns="0" bIns="0" rtlCol="0" anchor="ctr"/>
          <a:lstStyle/>
          <a:p>
            <a:pPr indent="0" marL="0">
              <a:buNone/>
            </a:pPr>
            <a:r>
              <a:rPr lang="en-US" sz="1500" dirty="0">
                <a:solidFill>
                  <a:srgbClr val="2B1620"/>
                </a:solidFill>
                <a:latin typeface="Calibri" pitchFamily="34" charset="0"/>
                <a:ea typeface="Calibri" pitchFamily="34" charset="-122"/>
                <a:cs typeface="Calibri" pitchFamily="34" charset="-120"/>
              </a:rPr>
              <a:t>Save your marriage</a:t>
            </a:r>
            <a:endParaRPr lang="en-US" sz="1500" dirty="0"/>
          </a:p>
        </p:txBody>
      </p:sp>
      <p:sp>
        <p:nvSpPr>
          <p:cNvPr id="13" name="Shape 11"/>
          <p:cNvSpPr/>
          <p:nvPr/>
        </p:nvSpPr>
        <p:spPr>
          <a:xfrm>
            <a:off x="640080" y="3712464"/>
            <a:ext cx="10881360" cy="566928"/>
          </a:xfrm>
          <a:prstGeom prst="roundRect">
            <a:avLst>
              <a:gd name="adj" fmla="val 16129"/>
            </a:avLst>
          </a:prstGeom>
          <a:solidFill>
            <a:srgbClr val="F7F2F4"/>
          </a:solidFill>
          <a:ln/>
        </p:spPr>
      </p:sp>
      <p:sp>
        <p:nvSpPr>
          <p:cNvPr id="14" name="Text 12"/>
          <p:cNvSpPr/>
          <p:nvPr/>
        </p:nvSpPr>
        <p:spPr>
          <a:xfrm>
            <a:off x="932688" y="3712464"/>
            <a:ext cx="2194560" cy="566928"/>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Stories</a:t>
            </a:r>
            <a:endParaRPr lang="en-US" sz="1300" dirty="0"/>
          </a:p>
        </p:txBody>
      </p:sp>
      <p:sp>
        <p:nvSpPr>
          <p:cNvPr id="15" name="Text 13"/>
          <p:cNvSpPr/>
          <p:nvPr/>
        </p:nvSpPr>
        <p:spPr>
          <a:xfrm>
            <a:off x="3246120" y="3712464"/>
            <a:ext cx="7955280" cy="566928"/>
          </a:xfrm>
          <a:prstGeom prst="rect">
            <a:avLst/>
          </a:prstGeom>
          <a:noFill/>
          <a:ln/>
        </p:spPr>
        <p:txBody>
          <a:bodyPr wrap="square" lIns="0" tIns="0" rIns="0" bIns="0" rtlCol="0" anchor="ctr"/>
          <a:lstStyle/>
          <a:p>
            <a:pPr indent="0" marL="0">
              <a:buNone/>
            </a:pPr>
            <a:r>
              <a:rPr lang="en-US" sz="1500" dirty="0">
                <a:solidFill>
                  <a:srgbClr val="2B1620"/>
                </a:solidFill>
                <a:latin typeface="Calibri" pitchFamily="34" charset="0"/>
                <a:ea typeface="Calibri" pitchFamily="34" charset="-122"/>
                <a:cs typeface="Calibri" pitchFamily="34" charset="-120"/>
              </a:rPr>
              <a:t>Growth quotes, in a completely different visual style</a:t>
            </a:r>
            <a:endParaRPr lang="en-US" sz="1500" dirty="0"/>
          </a:p>
        </p:txBody>
      </p:sp>
      <p:sp>
        <p:nvSpPr>
          <p:cNvPr id="16" name="Shape 14"/>
          <p:cNvSpPr/>
          <p:nvPr/>
        </p:nvSpPr>
        <p:spPr>
          <a:xfrm>
            <a:off x="640080" y="4370832"/>
            <a:ext cx="10881360" cy="566928"/>
          </a:xfrm>
          <a:prstGeom prst="roundRect">
            <a:avLst>
              <a:gd name="adj" fmla="val 16129"/>
            </a:avLst>
          </a:prstGeom>
          <a:solidFill>
            <a:srgbClr val="F7F2F4"/>
          </a:solidFill>
          <a:ln/>
        </p:spPr>
      </p:sp>
      <p:sp>
        <p:nvSpPr>
          <p:cNvPr id="17" name="Text 15"/>
          <p:cNvSpPr/>
          <p:nvPr/>
        </p:nvSpPr>
        <p:spPr>
          <a:xfrm>
            <a:off x="932688" y="4370832"/>
            <a:ext cx="2194560" cy="566928"/>
          </a:xfrm>
          <a:prstGeom prst="rect">
            <a:avLst/>
          </a:prstGeom>
          <a:noFill/>
          <a:ln/>
        </p:spPr>
        <p:txBody>
          <a:bodyPr wrap="square" lIns="0" tIns="0" rIns="0" bIns="0" rtlCol="0" anchor="ctr"/>
          <a:lstStyle/>
          <a:p>
            <a:pPr indent="0" marL="0">
              <a:buNone/>
            </a:pPr>
            <a:r>
              <a:rPr lang="en-US" sz="1300" b="1" dirty="0">
                <a:solidFill>
                  <a:srgbClr val="7A6068"/>
                </a:solidFill>
                <a:latin typeface="Calibri" pitchFamily="34" charset="0"/>
                <a:ea typeface="Calibri" pitchFamily="34" charset="-122"/>
                <a:cs typeface="Calibri" pitchFamily="34" charset="-120"/>
              </a:rPr>
              <a:t>Your Threads</a:t>
            </a:r>
            <a:endParaRPr lang="en-US" sz="1300" dirty="0"/>
          </a:p>
        </p:txBody>
      </p:sp>
      <p:sp>
        <p:nvSpPr>
          <p:cNvPr id="18" name="Text 16"/>
          <p:cNvSpPr/>
          <p:nvPr/>
        </p:nvSpPr>
        <p:spPr>
          <a:xfrm>
            <a:off x="3246120" y="4370832"/>
            <a:ext cx="7955280" cy="566928"/>
          </a:xfrm>
          <a:prstGeom prst="rect">
            <a:avLst/>
          </a:prstGeom>
          <a:noFill/>
          <a:ln/>
        </p:spPr>
        <p:txBody>
          <a:bodyPr wrap="square" lIns="0" tIns="0" rIns="0" bIns="0" rtlCol="0" anchor="ctr"/>
          <a:lstStyle/>
          <a:p>
            <a:pPr indent="0" marL="0">
              <a:buNone/>
            </a:pPr>
            <a:r>
              <a:rPr lang="en-US" sz="1500" dirty="0">
                <a:solidFill>
                  <a:srgbClr val="2B1620"/>
                </a:solidFill>
                <a:latin typeface="Calibri" pitchFamily="34" charset="0"/>
                <a:ea typeface="Calibri" pitchFamily="34" charset="-122"/>
                <a:cs typeface="Calibri" pitchFamily="34" charset="-120"/>
              </a:rPr>
              <a:t>Healing + productivity + accountability</a:t>
            </a:r>
            <a:endParaRPr lang="en-US" sz="1500" dirty="0"/>
          </a:p>
        </p:txBody>
      </p:sp>
      <p:sp>
        <p:nvSpPr>
          <p:cNvPr id="19" name="Shape 17"/>
          <p:cNvSpPr/>
          <p:nvPr/>
        </p:nvSpPr>
        <p:spPr>
          <a:xfrm>
            <a:off x="640080" y="5029200"/>
            <a:ext cx="10881360" cy="566928"/>
          </a:xfrm>
          <a:prstGeom prst="roundRect">
            <a:avLst>
              <a:gd name="adj" fmla="val 16129"/>
            </a:avLst>
          </a:prstGeom>
          <a:solidFill>
            <a:srgbClr val="6D2E46"/>
          </a:solidFill>
          <a:ln/>
        </p:spPr>
      </p:sp>
      <p:sp>
        <p:nvSpPr>
          <p:cNvPr id="20" name="Text 18"/>
          <p:cNvSpPr/>
          <p:nvPr/>
        </p:nvSpPr>
        <p:spPr>
          <a:xfrm>
            <a:off x="932688" y="5029200"/>
            <a:ext cx="2194560" cy="566928"/>
          </a:xfrm>
          <a:prstGeom prst="rect">
            <a:avLst/>
          </a:prstGeom>
          <a:noFill/>
          <a:ln/>
        </p:spPr>
        <p:txBody>
          <a:bodyPr wrap="square" lIns="0" tIns="0" rIns="0" bIns="0" rtlCol="0" anchor="ctr"/>
          <a:lstStyle/>
          <a:p>
            <a:pPr indent="0" marL="0">
              <a:buNone/>
            </a:pPr>
            <a:r>
              <a:rPr lang="en-US" sz="1300" b="1" dirty="0">
                <a:solidFill>
                  <a:srgbClr val="C9AEB8"/>
                </a:solidFill>
                <a:latin typeface="Calibri" pitchFamily="34" charset="0"/>
                <a:ea typeface="Calibri" pitchFamily="34" charset="-122"/>
                <a:cs typeface="Calibri" pitchFamily="34" charset="-120"/>
              </a:rPr>
              <a:t>neXtHer — the real one</a:t>
            </a:r>
            <a:endParaRPr lang="en-US" sz="1300" dirty="0"/>
          </a:p>
        </p:txBody>
      </p:sp>
      <p:sp>
        <p:nvSpPr>
          <p:cNvPr id="21" name="Text 19"/>
          <p:cNvSpPr/>
          <p:nvPr/>
        </p:nvSpPr>
        <p:spPr>
          <a:xfrm>
            <a:off x="3246120" y="5029200"/>
            <a:ext cx="7955280" cy="56692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AI, systems, income, independence</a:t>
            </a:r>
            <a:endParaRPr lang="en-US" sz="1500" dirty="0"/>
          </a:p>
        </p:txBody>
      </p:sp>
      <p:sp>
        <p:nvSpPr>
          <p:cNvPr id="22" name="Text 20"/>
          <p:cNvSpPr/>
          <p:nvPr/>
        </p:nvSpPr>
        <p:spPr>
          <a:xfrm>
            <a:off x="640080" y="5806440"/>
            <a:ext cx="10881360" cy="548640"/>
          </a:xfrm>
          <a:prstGeom prst="rect">
            <a:avLst/>
          </a:prstGeom>
          <a:noFill/>
          <a:ln/>
        </p:spPr>
        <p:txBody>
          <a:bodyPr wrap="square" lIns="0" tIns="0" rIns="0" bIns="0" rtlCol="0" anchor="ctr"/>
          <a:lstStyle/>
          <a:p>
            <a:pPr indent="0" marL="0">
              <a:lnSpc>
                <a:spcPts val="2200"/>
              </a:lnSpc>
              <a:buNone/>
            </a:pPr>
            <a:r>
              <a:rPr lang="en-US" sz="1500" b="1" dirty="0">
                <a:solidFill>
                  <a:srgbClr val="6D2E46"/>
                </a:solidFill>
                <a:latin typeface="Calibri" pitchFamily="34" charset="0"/>
                <a:ea typeface="Calibri" pitchFamily="34" charset="-122"/>
                <a:cs typeface="Calibri" pitchFamily="34" charset="-120"/>
              </a:rPr>
              <a:t>A new visitor has to guess which one you are. So does the algorithm — and it guesses based on what you post, not what your bio says.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PATTERN 02 · MY FAVOURITE THING I FOUND</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You've already written your best line</a:t>
            </a:r>
            <a:endParaRPr lang="en-US" sz="3800" dirty="0"/>
          </a:p>
        </p:txBody>
      </p:sp>
      <p:sp>
        <p:nvSpPr>
          <p:cNvPr id="4" name="Text 2"/>
          <p:cNvSpPr/>
          <p:nvPr/>
        </p:nvSpPr>
        <p:spPr>
          <a:xfrm>
            <a:off x="640080" y="1600200"/>
            <a:ext cx="10881360" cy="2743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You wrote this on Threads, in a reply, to a stranger:</a:t>
            </a:r>
            <a:endParaRPr lang="en-US" sz="1500" dirty="0"/>
          </a:p>
        </p:txBody>
      </p:sp>
      <p:sp>
        <p:nvSpPr>
          <p:cNvPr id="5" name="Shape 3"/>
          <p:cNvSpPr/>
          <p:nvPr/>
        </p:nvSpPr>
        <p:spPr>
          <a:xfrm>
            <a:off x="640080" y="1965960"/>
            <a:ext cx="10881360" cy="1371600"/>
          </a:xfrm>
          <a:prstGeom prst="roundRect">
            <a:avLst>
              <a:gd name="adj" fmla="val 9333"/>
            </a:avLst>
          </a:prstGeom>
          <a:solidFill>
            <a:srgbClr val="6D2E46"/>
          </a:solidFill>
          <a:ln/>
        </p:spPr>
      </p:sp>
      <p:sp>
        <p:nvSpPr>
          <p:cNvPr id="6" name="Text 4"/>
          <p:cNvSpPr/>
          <p:nvPr/>
        </p:nvSpPr>
        <p:spPr>
          <a:xfrm>
            <a:off x="1097280" y="1965960"/>
            <a:ext cx="9966960" cy="1371600"/>
          </a:xfrm>
          <a:prstGeom prst="rect">
            <a:avLst/>
          </a:prstGeom>
          <a:noFill/>
          <a:ln/>
        </p:spPr>
        <p:txBody>
          <a:bodyPr wrap="square" lIns="0" tIns="0" rIns="0" bIns="0" rtlCol="0" anchor="ctr"/>
          <a:lstStyle/>
          <a:p>
            <a:pPr indent="0" marL="0">
              <a:lnSpc>
                <a:spcPts val="3400"/>
              </a:lnSpc>
              <a:buNone/>
            </a:pPr>
            <a:r>
              <a:rPr lang="en-US" sz="2400" i="1" dirty="0">
                <a:solidFill>
                  <a:srgbClr val="FFFFFF"/>
                </a:solidFill>
                <a:latin typeface="Cambria" pitchFamily="34" charset="0"/>
                <a:ea typeface="Cambria" pitchFamily="34" charset="-122"/>
                <a:cs typeface="Cambria" pitchFamily="34" charset="-120"/>
              </a:rPr>
              <a:t>"I'm a coach who merges healing with productivity and accountability. I work with women who want to get </a:t>
            </a:r>
            <a:pPr indent="0" marL="0">
              <a:lnSpc>
                <a:spcPts val="3400"/>
              </a:lnSpc>
              <a:buNone/>
            </a:pPr>
            <a:r>
              <a:rPr lang="en-US" sz="2400" b="1" i="1" dirty="0">
                <a:solidFill>
                  <a:srgbClr val="D9A441"/>
                </a:solidFill>
                <a:latin typeface="Cambria" pitchFamily="34" charset="0"/>
                <a:ea typeface="Cambria" pitchFamily="34" charset="-122"/>
                <a:cs typeface="Cambria" pitchFamily="34" charset="-120"/>
              </a:rPr>
              <a:t>hotter, richer, more energized and more loved</a:t>
            </a:r>
            <a:pPr indent="0" marL="0">
              <a:lnSpc>
                <a:spcPts val="3400"/>
              </a:lnSpc>
              <a:buNone/>
            </a:pPr>
            <a:r>
              <a:rPr lang="en-US" sz="2400" i="1" dirty="0">
                <a:solidFill>
                  <a:srgbClr val="FFFFFF"/>
                </a:solidFill>
                <a:latin typeface="Cambria" pitchFamily="34" charset="0"/>
                <a:ea typeface="Cambria" pitchFamily="34" charset="-122"/>
                <a:cs typeface="Cambria" pitchFamily="34" charset="-120"/>
              </a:rPr>
              <a:t>."</a:t>
            </a:r>
            <a:endParaRPr lang="en-US" sz="2400" dirty="0"/>
          </a:p>
        </p:txBody>
      </p:sp>
      <p:sp>
        <p:nvSpPr>
          <p:cNvPr id="7" name="Text 5"/>
          <p:cNvSpPr/>
          <p:nvPr/>
        </p:nvSpPr>
        <p:spPr>
          <a:xfrm>
            <a:off x="640080" y="3657600"/>
            <a:ext cx="10881360" cy="2743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And this is what your Instagram bio says:</a:t>
            </a:r>
            <a:endParaRPr lang="en-US" sz="1500" dirty="0"/>
          </a:p>
        </p:txBody>
      </p:sp>
      <p:sp>
        <p:nvSpPr>
          <p:cNvPr id="8" name="Shape 6"/>
          <p:cNvSpPr/>
          <p:nvPr/>
        </p:nvSpPr>
        <p:spPr>
          <a:xfrm>
            <a:off x="640080" y="4005072"/>
            <a:ext cx="10881360" cy="749808"/>
          </a:xfrm>
          <a:prstGeom prst="roundRect">
            <a:avLst>
              <a:gd name="adj" fmla="val 17073"/>
            </a:avLst>
          </a:prstGeom>
          <a:solidFill>
            <a:srgbClr val="F7F2F4"/>
          </a:solidFill>
          <a:ln/>
        </p:spPr>
      </p:sp>
      <p:sp>
        <p:nvSpPr>
          <p:cNvPr id="9" name="Text 7"/>
          <p:cNvSpPr/>
          <p:nvPr/>
        </p:nvSpPr>
        <p:spPr>
          <a:xfrm>
            <a:off x="1097280" y="4005072"/>
            <a:ext cx="9966960" cy="749808"/>
          </a:xfrm>
          <a:prstGeom prst="rect">
            <a:avLst/>
          </a:prstGeom>
          <a:noFill/>
          <a:ln/>
        </p:spPr>
        <p:txBody>
          <a:bodyPr wrap="square" lIns="0" tIns="0" rIns="0" bIns="0" rtlCol="0" anchor="ctr"/>
          <a:lstStyle/>
          <a:p>
            <a:pPr indent="0" marL="0">
              <a:buNone/>
            </a:pPr>
            <a:r>
              <a:rPr lang="en-US" sz="1800" i="1" dirty="0">
                <a:solidFill>
                  <a:srgbClr val="7A6068"/>
                </a:solidFill>
                <a:latin typeface="Cambria" pitchFamily="34" charset="0"/>
                <a:ea typeface="Cambria" pitchFamily="34" charset="-122"/>
                <a:cs typeface="Cambria" pitchFamily="34" charset="-120"/>
              </a:rPr>
              <a:t>"Helping Ambitious Women Overcome Burnout · Mindset • Healing • Confidence"</a:t>
            </a:r>
            <a:endParaRPr lang="en-US" sz="1800" dirty="0"/>
          </a:p>
        </p:txBody>
      </p:sp>
      <p:sp>
        <p:nvSpPr>
          <p:cNvPr id="10" name="Text 8"/>
          <p:cNvSpPr/>
          <p:nvPr/>
        </p:nvSpPr>
        <p:spPr>
          <a:xfrm>
            <a:off x="640080" y="5029200"/>
            <a:ext cx="10515600" cy="548640"/>
          </a:xfrm>
          <a:prstGeom prst="rect">
            <a:avLst/>
          </a:prstGeom>
          <a:noFill/>
          <a:ln/>
        </p:spPr>
        <p:txBody>
          <a:bodyPr wrap="square" lIns="0" tIns="0" rIns="0" bIns="0" rtlCol="0" anchor="ctr"/>
          <a:lstStyle/>
          <a:p>
            <a:pPr indent="0" marL="0">
              <a:lnSpc>
                <a:spcPts val="2400"/>
              </a:lnSpc>
              <a:buNone/>
            </a:pPr>
            <a:r>
              <a:rPr lang="en-US" sz="1700" dirty="0">
                <a:solidFill>
                  <a:srgbClr val="2B1620"/>
                </a:solidFill>
                <a:latin typeface="Calibri" pitchFamily="34" charset="0"/>
                <a:ea typeface="Calibri" pitchFamily="34" charset="-122"/>
                <a:cs typeface="Calibri" pitchFamily="34" charset="-120"/>
              </a:rPr>
              <a:t>The first one is specific. A woman reads it and pictures herself. The second is what almost every coach on Instagram says.</a:t>
            </a:r>
            <a:endParaRPr lang="en-US" sz="1700" dirty="0"/>
          </a:p>
        </p:txBody>
      </p:sp>
      <p:sp>
        <p:nvSpPr>
          <p:cNvPr id="11" name="Text 9"/>
          <p:cNvSpPr/>
          <p:nvPr/>
        </p:nvSpPr>
        <p:spPr>
          <a:xfrm>
            <a:off x="640080" y="576072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You wrote the good one yourself, without thinking about it. It's sitting on an account with 3 followers.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PATTERN 03</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200" b="1" dirty="0">
                <a:solidFill>
                  <a:srgbClr val="2B1620"/>
                </a:solidFill>
                <a:latin typeface="Cambria" pitchFamily="34" charset="0"/>
                <a:ea typeface="Cambria" pitchFamily="34" charset="-122"/>
                <a:cs typeface="Cambria" pitchFamily="34" charset="-120"/>
              </a:rPr>
              <a:t>Your best writing is where the algorithm can't see it</a:t>
            </a:r>
            <a:endParaRPr lang="en-US" sz="3200" dirty="0"/>
          </a:p>
        </p:txBody>
      </p:sp>
      <p:sp>
        <p:nvSpPr>
          <p:cNvPr id="4" name="Shape 2"/>
          <p:cNvSpPr/>
          <p:nvPr/>
        </p:nvSpPr>
        <p:spPr>
          <a:xfrm>
            <a:off x="640080" y="1783080"/>
            <a:ext cx="5120640" cy="2286000"/>
          </a:xfrm>
          <a:prstGeom prst="roundRect">
            <a:avLst>
              <a:gd name="adj" fmla="val 5600"/>
            </a:avLst>
          </a:prstGeom>
          <a:solidFill>
            <a:srgbClr val="F7F2F4"/>
          </a:solidFill>
          <a:ln/>
        </p:spPr>
      </p:sp>
      <p:sp>
        <p:nvSpPr>
          <p:cNvPr id="5" name="Text 3"/>
          <p:cNvSpPr/>
          <p:nvPr/>
        </p:nvSpPr>
        <p:spPr>
          <a:xfrm>
            <a:off x="969264" y="2011680"/>
            <a:ext cx="4389120" cy="274320"/>
          </a:xfrm>
          <a:prstGeom prst="rect">
            <a:avLst/>
          </a:prstGeom>
          <a:noFill/>
          <a:ln/>
        </p:spPr>
        <p:txBody>
          <a:bodyPr wrap="square" lIns="0" tIns="0" rIns="0" bIns="0" rtlCol="0" anchor="ctr"/>
          <a:lstStyle/>
          <a:p>
            <a:pPr indent="0" marL="0">
              <a:buNone/>
            </a:pPr>
            <a:r>
              <a:rPr lang="en-US" sz="1400" b="1" dirty="0">
                <a:solidFill>
                  <a:srgbClr val="6D2E46"/>
                </a:solidFill>
                <a:latin typeface="Calibri" pitchFamily="34" charset="0"/>
                <a:ea typeface="Calibri" pitchFamily="34" charset="-122"/>
                <a:cs typeface="Calibri" pitchFamily="34" charset="-120"/>
              </a:rPr>
              <a:t>WHAT'S ON THE VIDEO</a:t>
            </a:r>
            <a:endParaRPr lang="en-US" sz="1400" dirty="0"/>
          </a:p>
        </p:txBody>
      </p:sp>
      <p:sp>
        <p:nvSpPr>
          <p:cNvPr id="6" name="Text 4"/>
          <p:cNvSpPr/>
          <p:nvPr/>
        </p:nvSpPr>
        <p:spPr>
          <a:xfrm>
            <a:off x="969264" y="2423160"/>
            <a:ext cx="4480560" cy="1371600"/>
          </a:xfrm>
          <a:prstGeom prst="rect">
            <a:avLst/>
          </a:prstGeom>
          <a:noFill/>
          <a:ln/>
        </p:spPr>
        <p:txBody>
          <a:bodyPr wrap="square" lIns="0" tIns="0" rIns="0" bIns="0" rtlCol="0" anchor="ctr"/>
          <a:lstStyle/>
          <a:p>
            <a:pPr indent="0" marL="0">
              <a:lnSpc>
                <a:spcPts val="2700"/>
              </a:lnSpc>
              <a:buNone/>
            </a:pPr>
            <a:r>
              <a:rPr lang="en-US" sz="1900" dirty="0">
                <a:solidFill>
                  <a:srgbClr val="2B1620"/>
                </a:solidFill>
                <a:latin typeface="Cambria" pitchFamily="34" charset="0"/>
                <a:ea typeface="Cambria" pitchFamily="34" charset="-122"/>
                <a:cs typeface="Cambria" pitchFamily="34" charset="-120"/>
              </a:rPr>
              <a:t>A title card over b-roll of you walking.</a:t>
            </a:r>
            <a:endParaRPr lang="en-US" sz="1900" dirty="0"/>
          </a:p>
          <a:p>
            <a:pPr indent="0" marL="0">
              <a:lnSpc>
                <a:spcPts val="2700"/>
              </a:lnSpc>
              <a:buNone/>
            </a:pPr>
            <a:endParaRPr lang="en-US" sz="1900" dirty="0"/>
          </a:p>
          <a:p>
            <a:pPr indent="0" marL="0">
              <a:lnSpc>
                <a:spcPts val="2700"/>
              </a:lnSpc>
              <a:buNone/>
            </a:pPr>
            <a:r>
              <a:rPr lang="en-US" sz="1900" dirty="0">
                <a:solidFill>
                  <a:srgbClr val="2B1620"/>
                </a:solidFill>
                <a:latin typeface="Cambria" pitchFamily="34" charset="0"/>
                <a:ea typeface="Cambria" pitchFamily="34" charset="-122"/>
                <a:cs typeface="Cambria" pitchFamily="34" charset="-120"/>
              </a:rPr>
              <a:t>Then two words:  "Read caption."</a:t>
            </a:r>
            <a:endParaRPr lang="en-US" sz="1900" dirty="0"/>
          </a:p>
        </p:txBody>
      </p:sp>
      <p:sp>
        <p:nvSpPr>
          <p:cNvPr id="7" name="Shape 5"/>
          <p:cNvSpPr/>
          <p:nvPr/>
        </p:nvSpPr>
        <p:spPr>
          <a:xfrm>
            <a:off x="6400800" y="1783080"/>
            <a:ext cx="5120640" cy="2286000"/>
          </a:xfrm>
          <a:prstGeom prst="roundRect">
            <a:avLst>
              <a:gd name="adj" fmla="val 5600"/>
            </a:avLst>
          </a:prstGeom>
          <a:solidFill>
            <a:srgbClr val="A26769"/>
          </a:solidFill>
          <a:ln/>
        </p:spPr>
      </p:sp>
      <p:sp>
        <p:nvSpPr>
          <p:cNvPr id="8" name="Text 6"/>
          <p:cNvSpPr/>
          <p:nvPr/>
        </p:nvSpPr>
        <p:spPr>
          <a:xfrm>
            <a:off x="6729984" y="2011680"/>
            <a:ext cx="43891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WHAT'S IN THE CAPTION</a:t>
            </a:r>
            <a:endParaRPr lang="en-US" sz="1400" dirty="0"/>
          </a:p>
        </p:txBody>
      </p:sp>
      <p:sp>
        <p:nvSpPr>
          <p:cNvPr id="9" name="Text 7"/>
          <p:cNvSpPr/>
          <p:nvPr/>
        </p:nvSpPr>
        <p:spPr>
          <a:xfrm>
            <a:off x="6729984" y="2423160"/>
            <a:ext cx="4480560" cy="1371600"/>
          </a:xfrm>
          <a:prstGeom prst="rect">
            <a:avLst/>
          </a:prstGeom>
          <a:noFill/>
          <a:ln/>
        </p:spPr>
        <p:txBody>
          <a:bodyPr wrap="square" lIns="0" tIns="0" rIns="0" bIns="0" rtlCol="0" anchor="ctr"/>
          <a:lstStyle/>
          <a:p>
            <a:pPr indent="0" marL="0">
              <a:lnSpc>
                <a:spcPts val="2200"/>
              </a:lnSpc>
              <a:buNone/>
            </a:pPr>
            <a:r>
              <a:rPr lang="en-US" sz="1500" dirty="0">
                <a:solidFill>
                  <a:srgbClr val="FFFFFF"/>
                </a:solidFill>
                <a:latin typeface="Calibri" pitchFamily="34" charset="0"/>
                <a:ea typeface="Calibri" pitchFamily="34" charset="-122"/>
                <a:cs typeface="Calibri" pitchFamily="34" charset="-120"/>
              </a:rPr>
              <a:t>Four sentences that damage a relationship. Five habits that quietly destroy one. Real, structured, genuinely useful writing — often 300 words of it.</a:t>
            </a:r>
            <a:endParaRPr lang="en-US" sz="1500" dirty="0"/>
          </a:p>
        </p:txBody>
      </p:sp>
      <p:sp>
        <p:nvSpPr>
          <p:cNvPr id="10" name="Text 8"/>
          <p:cNvSpPr/>
          <p:nvPr/>
        </p:nvSpPr>
        <p:spPr>
          <a:xfrm>
            <a:off x="640080" y="4434840"/>
            <a:ext cx="10515600" cy="914400"/>
          </a:xfrm>
          <a:prstGeom prst="rect">
            <a:avLst/>
          </a:prstGeom>
          <a:noFill/>
          <a:ln/>
        </p:spPr>
        <p:txBody>
          <a:bodyPr wrap="square" lIns="0" tIns="0" rIns="0" bIns="0" rtlCol="0" anchor="ctr"/>
          <a:lstStyle/>
          <a:p>
            <a:pPr indent="0" marL="0">
              <a:lnSpc>
                <a:spcPts val="2600"/>
              </a:lnSpc>
              <a:buNone/>
            </a:pPr>
            <a:r>
              <a:rPr lang="en-US" sz="1700" dirty="0">
                <a:solidFill>
                  <a:srgbClr val="2B1620"/>
                </a:solidFill>
                <a:latin typeface="Calibri" pitchFamily="34" charset="0"/>
                <a:ea typeface="Calibri" pitchFamily="34" charset="-122"/>
                <a:cs typeface="Calibri" pitchFamily="34" charset="-120"/>
              </a:rPr>
              <a:t>Instagram decides who sees a reel based on how long people watch it and how they react to the video. It can't reward a caption. So your strongest work is in the one place the platform doesn't count.</a:t>
            </a:r>
            <a:endParaRPr lang="en-US" sz="1700" dirty="0"/>
          </a:p>
        </p:txBody>
      </p:sp>
      <p:sp>
        <p:nvSpPr>
          <p:cNvPr id="11" name="Text 9"/>
          <p:cNvSpPr/>
          <p:nvPr/>
        </p:nvSpPr>
        <p:spPr>
          <a:xfrm>
            <a:off x="640080" y="553212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fix is not writing less. It's saying it out loud, on camera, in the first five seconds.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1B2E"/>
        </a:solidFill>
      </p:bgPr>
    </p:bg>
    <p:spTree>
      <p:nvGrpSpPr>
        <p:cNvPr id="1" name=""/>
        <p:cNvGrpSpPr/>
        <p:nvPr/>
      </p:nvGrpSpPr>
      <p:grpSpPr>
        <a:xfrm>
          <a:off x="0" y="0"/>
          <a:ext cx="0" cy="0"/>
          <a:chOff x="0" y="0"/>
          <a:chExt cx="0" cy="0"/>
        </a:xfrm>
      </p:grpSpPr>
      <p:sp>
        <p:nvSpPr>
          <p:cNvPr id="2" name="Shape 0"/>
          <p:cNvSpPr/>
          <p:nvPr/>
        </p:nvSpPr>
        <p:spPr>
          <a:xfrm>
            <a:off x="9235440" y="1097280"/>
            <a:ext cx="3931920" cy="3931920"/>
          </a:xfrm>
          <a:prstGeom prst="ellipse">
            <a:avLst/>
          </a:prstGeom>
          <a:solidFill>
            <a:srgbClr val="6D2E46"/>
          </a:solidFill>
          <a:ln/>
        </p:spPr>
      </p:sp>
      <p:sp>
        <p:nvSpPr>
          <p:cNvPr id="3" name="Text 1"/>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PATTERN 04</a:t>
            </a:r>
            <a:endParaRPr lang="en-US" sz="1200" dirty="0"/>
          </a:p>
        </p:txBody>
      </p:sp>
      <p:sp>
        <p:nvSpPr>
          <p:cNvPr id="4" name="Text 2"/>
          <p:cNvSpPr/>
          <p:nvPr/>
        </p:nvSpPr>
        <p:spPr>
          <a:xfrm>
            <a:off x="640080" y="1371600"/>
            <a:ext cx="3657600" cy="1234440"/>
          </a:xfrm>
          <a:prstGeom prst="rect">
            <a:avLst/>
          </a:prstGeom>
          <a:noFill/>
          <a:ln/>
        </p:spPr>
        <p:txBody>
          <a:bodyPr wrap="square" lIns="0" tIns="0" rIns="0" bIns="0" rtlCol="0" anchor="ctr"/>
          <a:lstStyle/>
          <a:p>
            <a:pPr indent="0" marL="0">
              <a:buNone/>
            </a:pPr>
            <a:r>
              <a:rPr lang="en-US" sz="10000" b="1" dirty="0">
                <a:solidFill>
                  <a:srgbClr val="D9A441"/>
                </a:solidFill>
                <a:latin typeface="Cambria" pitchFamily="34" charset="0"/>
                <a:ea typeface="Cambria" pitchFamily="34" charset="-122"/>
                <a:cs typeface="Cambria" pitchFamily="34" charset="-120"/>
              </a:rPr>
              <a:t>34</a:t>
            </a:r>
            <a:endParaRPr lang="en-US" sz="10000" dirty="0"/>
          </a:p>
        </p:txBody>
      </p:sp>
      <p:sp>
        <p:nvSpPr>
          <p:cNvPr id="5" name="Text 3"/>
          <p:cNvSpPr/>
          <p:nvPr/>
        </p:nvSpPr>
        <p:spPr>
          <a:xfrm>
            <a:off x="640080" y="2697480"/>
            <a:ext cx="5943600" cy="365760"/>
          </a:xfrm>
          <a:prstGeom prst="rect">
            <a:avLst/>
          </a:prstGeom>
          <a:noFill/>
          <a:ln/>
        </p:spPr>
        <p:txBody>
          <a:bodyPr wrap="square" lIns="0" tIns="0" rIns="0" bIns="0" rtlCol="0" anchor="ctr"/>
          <a:lstStyle/>
          <a:p>
            <a:pPr indent="0" marL="0">
              <a:buNone/>
            </a:pPr>
            <a:r>
              <a:rPr lang="en-US" sz="1800" dirty="0">
                <a:solidFill>
                  <a:srgbClr val="C9AEB8"/>
                </a:solidFill>
                <a:latin typeface="Calibri" pitchFamily="34" charset="0"/>
                <a:ea typeface="Calibri" pitchFamily="34" charset="-122"/>
                <a:cs typeface="Calibri" pitchFamily="34" charset="-120"/>
              </a:rPr>
              <a:t>posts, and we still haven't heard your voice</a:t>
            </a:r>
            <a:endParaRPr lang="en-US" sz="1800" dirty="0"/>
          </a:p>
        </p:txBody>
      </p:sp>
      <p:sp>
        <p:nvSpPr>
          <p:cNvPr id="6" name="Text 4"/>
          <p:cNvSpPr/>
          <p:nvPr/>
        </p:nvSpPr>
        <p:spPr>
          <a:xfrm>
            <a:off x="640080" y="3566160"/>
            <a:ext cx="7772400" cy="1051560"/>
          </a:xfrm>
          <a:prstGeom prst="rect">
            <a:avLst/>
          </a:prstGeom>
          <a:noFill/>
          <a:ln/>
        </p:spPr>
        <p:txBody>
          <a:bodyPr wrap="square" lIns="0" tIns="0" rIns="0" bIns="0" rtlCol="0" anchor="ctr"/>
          <a:lstStyle/>
          <a:p>
            <a:pPr indent="0" marL="0">
              <a:lnSpc>
                <a:spcPts val="4000"/>
              </a:lnSpc>
              <a:buNone/>
            </a:pPr>
            <a:r>
              <a:rPr lang="en-US" sz="3200" b="1" dirty="0">
                <a:solidFill>
                  <a:srgbClr val="FFFFFF"/>
                </a:solidFill>
                <a:latin typeface="Cambria" pitchFamily="34" charset="0"/>
                <a:ea typeface="Cambria" pitchFamily="34" charset="-122"/>
                <a:cs typeface="Cambria" pitchFamily="34" charset="-120"/>
              </a:rPr>
              <a:t>No talking-head. No piece to camera. Not once.</a:t>
            </a:r>
            <a:endParaRPr lang="en-US" sz="3200" dirty="0"/>
          </a:p>
        </p:txBody>
      </p:sp>
      <p:sp>
        <p:nvSpPr>
          <p:cNvPr id="7" name="Text 5"/>
          <p:cNvSpPr/>
          <p:nvPr/>
        </p:nvSpPr>
        <p:spPr>
          <a:xfrm>
            <a:off x="640080" y="4709160"/>
            <a:ext cx="7772400" cy="914400"/>
          </a:xfrm>
          <a:prstGeom prst="rect">
            <a:avLst/>
          </a:prstGeom>
          <a:noFill/>
          <a:ln/>
        </p:spPr>
        <p:txBody>
          <a:bodyPr wrap="square" lIns="0" tIns="0" rIns="0" bIns="0" rtlCol="0" anchor="ctr"/>
          <a:lstStyle/>
          <a:p>
            <a:pPr indent="0" marL="0">
              <a:lnSpc>
                <a:spcPts val="2400"/>
              </a:lnSpc>
              <a:buNone/>
            </a:pPr>
            <a:r>
              <a:rPr lang="en-US" sz="1600" dirty="0">
                <a:solidFill>
                  <a:srgbClr val="C9AEB8"/>
                </a:solidFill>
                <a:latin typeface="Calibri" pitchFamily="34" charset="0"/>
                <a:ea typeface="Calibri" pitchFamily="34" charset="-122"/>
                <a:cs typeface="Calibri" pitchFamily="34" charset="-120"/>
              </a:rPr>
              <a:t>You're a coach. What people are actually buying is how you think — your judgement, your warmth, the way you say a hard thing kindly. Nobody has heard that yet.</a:t>
            </a:r>
            <a:endParaRPr lang="en-US" sz="1600" dirty="0"/>
          </a:p>
        </p:txBody>
      </p:sp>
      <p:sp>
        <p:nvSpPr>
          <p:cNvPr id="8" name="Text 6"/>
          <p:cNvSpPr/>
          <p:nvPr/>
        </p:nvSpPr>
        <p:spPr>
          <a:xfrm>
            <a:off x="640080" y="5715000"/>
            <a:ext cx="777240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This is the cheapest fix on this entire list. It costs nothing but the decision.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PATTERN 05</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You've already started — quietly</a:t>
            </a:r>
            <a:endParaRPr lang="en-US" sz="3800" dirty="0"/>
          </a:p>
        </p:txBody>
      </p:sp>
      <p:sp>
        <p:nvSpPr>
          <p:cNvPr id="4" name="Text 2"/>
          <p:cNvSpPr/>
          <p:nvPr/>
        </p:nvSpPr>
        <p:spPr>
          <a:xfrm>
            <a:off x="640080" y="1600200"/>
            <a:ext cx="10881360" cy="27432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One of your Stories, over a photo of your laptop:</a:t>
            </a:r>
            <a:endParaRPr lang="en-US" sz="1500" dirty="0"/>
          </a:p>
        </p:txBody>
      </p:sp>
      <p:sp>
        <p:nvSpPr>
          <p:cNvPr id="5" name="Shape 3"/>
          <p:cNvSpPr/>
          <p:nvPr/>
        </p:nvSpPr>
        <p:spPr>
          <a:xfrm>
            <a:off x="640080" y="1965960"/>
            <a:ext cx="10881360" cy="1188720"/>
          </a:xfrm>
          <a:prstGeom prst="roundRect">
            <a:avLst>
              <a:gd name="adj" fmla="val 10769"/>
            </a:avLst>
          </a:prstGeom>
          <a:solidFill>
            <a:srgbClr val="F7F2F4"/>
          </a:solidFill>
          <a:ln/>
        </p:spPr>
      </p:sp>
      <p:sp>
        <p:nvSpPr>
          <p:cNvPr id="6" name="Text 4"/>
          <p:cNvSpPr/>
          <p:nvPr/>
        </p:nvSpPr>
        <p:spPr>
          <a:xfrm>
            <a:off x="1097280" y="1965960"/>
            <a:ext cx="9966960" cy="1188720"/>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"Building something crazy for all my girlies ❤️ SO EXCITED"</a:t>
            </a:r>
            <a:endParaRPr lang="en-US" sz="2700" dirty="0"/>
          </a:p>
        </p:txBody>
      </p:sp>
      <p:sp>
        <p:nvSpPr>
          <p:cNvPr id="7" name="Text 5"/>
          <p:cNvSpPr/>
          <p:nvPr/>
        </p:nvSpPr>
        <p:spPr>
          <a:xfrm>
            <a:off x="640080" y="3520440"/>
            <a:ext cx="10515600" cy="914400"/>
          </a:xfrm>
          <a:prstGeom prst="rect">
            <a:avLst/>
          </a:prstGeom>
          <a:noFill/>
          <a:ln/>
        </p:spPr>
        <p:txBody>
          <a:bodyPr wrap="square" lIns="0" tIns="0" rIns="0" bIns="0" rtlCol="0" anchor="ctr"/>
          <a:lstStyle/>
          <a:p>
            <a:pPr indent="0" marL="0">
              <a:lnSpc>
                <a:spcPts val="2600"/>
              </a:lnSpc>
              <a:buNone/>
            </a:pPr>
            <a:r>
              <a:rPr lang="en-US" sz="1700" dirty="0">
                <a:solidFill>
                  <a:srgbClr val="2B1620"/>
                </a:solidFill>
                <a:latin typeface="Calibri" pitchFamily="34" charset="0"/>
                <a:ea typeface="Calibri" pitchFamily="34" charset="-122"/>
                <a:cs typeface="Calibri" pitchFamily="34" charset="-120"/>
              </a:rPr>
              <a:t>You're already announcing neXtHer. You're already excited about it. You just put it somewhere that disappeared after 24 hours, instead of somewhere that keeps working for you.</a:t>
            </a:r>
            <a:endParaRPr lang="en-US" sz="1700" dirty="0"/>
          </a:p>
        </p:txBody>
      </p:sp>
      <p:sp>
        <p:nvSpPr>
          <p:cNvPr id="8" name="Shape 6"/>
          <p:cNvSpPr/>
          <p:nvPr/>
        </p:nvSpPr>
        <p:spPr>
          <a:xfrm>
            <a:off x="640080" y="4572000"/>
            <a:ext cx="10881360" cy="1005840"/>
          </a:xfrm>
          <a:prstGeom prst="roundRect">
            <a:avLst>
              <a:gd name="adj" fmla="val 12727"/>
            </a:avLst>
          </a:prstGeom>
          <a:solidFill>
            <a:srgbClr val="6D2E46"/>
          </a:solidFill>
          <a:ln/>
        </p:spPr>
      </p:sp>
      <p:sp>
        <p:nvSpPr>
          <p:cNvPr id="9" name="Text 7"/>
          <p:cNvSpPr/>
          <p:nvPr/>
        </p:nvSpPr>
        <p:spPr>
          <a:xfrm>
            <a:off x="1097280" y="4572000"/>
            <a:ext cx="9966960" cy="100584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That tells me the direction is already decided in your head. What's missing isn't the idea — it's someone to help you commit to it publicly and keep it going every week.</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HOW YOU WORK — AN HONEST READ</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What I'd keep, and what I'd change</a:t>
            </a:r>
            <a:endParaRPr lang="en-US" sz="3800" dirty="0"/>
          </a:p>
        </p:txBody>
      </p:sp>
      <p:sp>
        <p:nvSpPr>
          <p:cNvPr id="4" name="Shape 2"/>
          <p:cNvSpPr/>
          <p:nvPr/>
        </p:nvSpPr>
        <p:spPr>
          <a:xfrm>
            <a:off x="640080" y="1645920"/>
            <a:ext cx="5303520" cy="3931920"/>
          </a:xfrm>
          <a:prstGeom prst="roundRect">
            <a:avLst>
              <a:gd name="adj" fmla="val 3256"/>
            </a:avLst>
          </a:prstGeom>
          <a:solidFill>
            <a:srgbClr val="F1F6F2"/>
          </a:solidFill>
          <a:ln/>
        </p:spPr>
      </p:sp>
      <p:sp>
        <p:nvSpPr>
          <p:cNvPr id="5" name="Text 3"/>
          <p:cNvSpPr/>
          <p:nvPr/>
        </p:nvSpPr>
        <p:spPr>
          <a:xfrm>
            <a:off x="950976" y="1874520"/>
            <a:ext cx="4663440" cy="274320"/>
          </a:xfrm>
          <a:prstGeom prst="rect">
            <a:avLst/>
          </a:prstGeom>
          <a:noFill/>
          <a:ln/>
        </p:spPr>
        <p:txBody>
          <a:bodyPr wrap="square" lIns="0" tIns="0" rIns="0" bIns="0" rtlCol="0" anchor="ctr"/>
          <a:lstStyle/>
          <a:p>
            <a:pPr indent="0" marL="0">
              <a:buNone/>
            </a:pPr>
            <a:r>
              <a:rPr lang="en-US" sz="1350" b="1" spc="100" kern="0" dirty="0">
                <a:solidFill>
                  <a:srgbClr val="4A7C59"/>
                </a:solidFill>
                <a:latin typeface="Calibri" pitchFamily="34" charset="0"/>
                <a:ea typeface="Calibri" pitchFamily="34" charset="-122"/>
                <a:cs typeface="Calibri" pitchFamily="34" charset="-120"/>
              </a:rPr>
              <a:t>KEEP — THIS IS WORKING</a:t>
            </a:r>
            <a:endParaRPr lang="en-US" sz="1350" dirty="0"/>
          </a:p>
        </p:txBody>
      </p:sp>
      <p:sp>
        <p:nvSpPr>
          <p:cNvPr id="6" name="Text 4"/>
          <p:cNvSpPr/>
          <p:nvPr/>
        </p:nvSpPr>
        <p:spPr>
          <a:xfrm>
            <a:off x="950976" y="2286000"/>
            <a:ext cx="4663440" cy="310896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Consistency. 34 posts is real discipline</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Your writing. Structured, warm, actually useful</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You're at ease on camera — most coaches aren't</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Cover design is consistent — the grid reads as one brand</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 pick good hooks. "5 signs your marriage is already ending" is strong</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 engage on Threads — replying to strangers, joining communities</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 experiment — polls, sliders, different formats</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 research. You found Katie before I did</a:t>
            </a:r>
            <a:endParaRPr lang="en-US" sz="1250" dirty="0"/>
          </a:p>
        </p:txBody>
      </p:sp>
      <p:sp>
        <p:nvSpPr>
          <p:cNvPr id="7" name="Shape 5"/>
          <p:cNvSpPr/>
          <p:nvPr/>
        </p:nvSpPr>
        <p:spPr>
          <a:xfrm>
            <a:off x="6400800" y="1645920"/>
            <a:ext cx="5120640" cy="3931920"/>
          </a:xfrm>
          <a:prstGeom prst="roundRect">
            <a:avLst>
              <a:gd name="adj" fmla="val 3256"/>
            </a:avLst>
          </a:prstGeom>
          <a:solidFill>
            <a:srgbClr val="F7F2F4"/>
          </a:solidFill>
          <a:ln/>
        </p:spPr>
      </p:sp>
      <p:sp>
        <p:nvSpPr>
          <p:cNvPr id="8" name="Text 6"/>
          <p:cNvSpPr/>
          <p:nvPr/>
        </p:nvSpPr>
        <p:spPr>
          <a:xfrm>
            <a:off x="6711696" y="1874520"/>
            <a:ext cx="4480560" cy="274320"/>
          </a:xfrm>
          <a:prstGeom prst="rect">
            <a:avLst/>
          </a:prstGeom>
          <a:noFill/>
          <a:ln/>
        </p:spPr>
        <p:txBody>
          <a:bodyPr wrap="square" lIns="0" tIns="0" rIns="0" bIns="0" rtlCol="0" anchor="ctr"/>
          <a:lstStyle/>
          <a:p>
            <a:pPr indent="0" marL="0">
              <a:buNone/>
            </a:pPr>
            <a:r>
              <a:rPr lang="en-US" sz="1350" b="1" spc="100" kern="0" dirty="0">
                <a:solidFill>
                  <a:srgbClr val="6D2E46"/>
                </a:solidFill>
                <a:latin typeface="Calibri" pitchFamily="34" charset="0"/>
                <a:ea typeface="Calibri" pitchFamily="34" charset="-122"/>
                <a:cs typeface="Calibri" pitchFamily="34" charset="-120"/>
              </a:rPr>
              <a:t>CHANGE — THIS IS COSTING YOU</a:t>
            </a:r>
            <a:endParaRPr lang="en-US" sz="1350" dirty="0"/>
          </a:p>
        </p:txBody>
      </p:sp>
      <p:sp>
        <p:nvSpPr>
          <p:cNvPr id="9" name="Text 7"/>
          <p:cNvSpPr/>
          <p:nvPr/>
        </p:nvSpPr>
        <p:spPr>
          <a:xfrm>
            <a:off x="6711696" y="2286000"/>
            <a:ext cx="4480560" cy="310896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Value sits in the caption, not the video</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No talking head in 34 posts</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Every post asks for a booking — no runway before the ask</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Keyword blocks before hashtags do nothing on Instagram</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You follow 5 accounts — you network on Threads, not where your audience is</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One highlight, no pinned posts — a new visitor has no way in</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Three visual languages across grid, stories and profile</a:t>
            </a:r>
            <a:endParaRPr lang="en-US" sz="1250" dirty="0"/>
          </a:p>
          <a:p>
            <a:pPr marL="342900" indent="-342900">
              <a:lnSpc>
                <a:spcPts val="1900"/>
              </a:lnSpc>
              <a:spcAft>
                <a:spcPts val="700"/>
              </a:spcAft>
              <a:buSzPct val="100000"/>
              <a:buChar char="•"/>
            </a:pPr>
            <a:r>
              <a:rPr lang="en-US" sz="1250" dirty="0">
                <a:solidFill>
                  <a:srgbClr val="2B1620"/>
                </a:solidFill>
                <a:latin typeface="Calibri" pitchFamily="34" charset="0"/>
                <a:ea typeface="Calibri" pitchFamily="34" charset="-122"/>
                <a:cs typeface="Calibri" pitchFamily="34" charset="-120"/>
              </a:rPr>
              <a:t>Several things launching at once — coaching, marriage, neXtHer, a book club</a:t>
            </a:r>
            <a:endParaRPr lang="en-US" sz="1250" dirty="0"/>
          </a:p>
        </p:txBody>
      </p:sp>
      <p:sp>
        <p:nvSpPr>
          <p:cNvPr id="10" name="Text 8"/>
          <p:cNvSpPr/>
          <p:nvPr/>
        </p:nvSpPr>
        <p:spPr>
          <a:xfrm>
            <a:off x="640080" y="580644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None of this is a talent problem. Every item on the right is a system problem — and systems are fixable.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THE HONEST PICTURE</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SWOT</a:t>
            </a:r>
            <a:endParaRPr lang="en-US" sz="3800" dirty="0"/>
          </a:p>
        </p:txBody>
      </p:sp>
      <p:sp>
        <p:nvSpPr>
          <p:cNvPr id="4" name="Shape 2"/>
          <p:cNvSpPr/>
          <p:nvPr/>
        </p:nvSpPr>
        <p:spPr>
          <a:xfrm>
            <a:off x="640080" y="1600200"/>
            <a:ext cx="5303520" cy="2240280"/>
          </a:xfrm>
          <a:prstGeom prst="roundRect">
            <a:avLst>
              <a:gd name="adj" fmla="val 5714"/>
            </a:avLst>
          </a:prstGeom>
          <a:solidFill>
            <a:srgbClr val="F1F6F2"/>
          </a:solidFill>
          <a:ln/>
        </p:spPr>
      </p:sp>
      <p:sp>
        <p:nvSpPr>
          <p:cNvPr id="5" name="Text 3"/>
          <p:cNvSpPr/>
          <p:nvPr/>
        </p:nvSpPr>
        <p:spPr>
          <a:xfrm>
            <a:off x="914400" y="1783080"/>
            <a:ext cx="4572000" cy="256032"/>
          </a:xfrm>
          <a:prstGeom prst="rect">
            <a:avLst/>
          </a:prstGeom>
          <a:noFill/>
          <a:ln/>
        </p:spPr>
        <p:txBody>
          <a:bodyPr wrap="square" lIns="0" tIns="0" rIns="0" bIns="0" rtlCol="0" anchor="ctr"/>
          <a:lstStyle/>
          <a:p>
            <a:pPr indent="0" marL="0">
              <a:buNone/>
            </a:pPr>
            <a:r>
              <a:rPr lang="en-US" sz="1250" b="1" spc="150" kern="0" dirty="0">
                <a:solidFill>
                  <a:srgbClr val="4A7C59"/>
                </a:solidFill>
                <a:latin typeface="Calibri" pitchFamily="34" charset="0"/>
                <a:ea typeface="Calibri" pitchFamily="34" charset="-122"/>
                <a:cs typeface="Calibri" pitchFamily="34" charset="-120"/>
              </a:rPr>
              <a:t>STRENGTHS</a:t>
            </a:r>
            <a:endParaRPr lang="en-US" sz="1250" dirty="0"/>
          </a:p>
        </p:txBody>
      </p:sp>
      <p:sp>
        <p:nvSpPr>
          <p:cNvPr id="6" name="Text 4"/>
          <p:cNvSpPr/>
          <p:nvPr/>
        </p:nvSpPr>
        <p:spPr>
          <a:xfrm>
            <a:off x="914400" y="2130552"/>
            <a:ext cx="4754880" cy="16002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100+ women already coached — real experience</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You understand the emotional life of Indian married women better than any AI educator in the country</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Consistent publisher, strong writer, easy on camera</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You're 30 with two kids — you are your audience</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You already spotted the right model to follow</a:t>
            </a:r>
            <a:endParaRPr lang="en-US" sz="1150" dirty="0"/>
          </a:p>
        </p:txBody>
      </p:sp>
      <p:sp>
        <p:nvSpPr>
          <p:cNvPr id="7" name="Shape 5"/>
          <p:cNvSpPr/>
          <p:nvPr/>
        </p:nvSpPr>
        <p:spPr>
          <a:xfrm>
            <a:off x="6400800" y="1600200"/>
            <a:ext cx="5120640" cy="2240280"/>
          </a:xfrm>
          <a:prstGeom prst="roundRect">
            <a:avLst>
              <a:gd name="adj" fmla="val 5714"/>
            </a:avLst>
          </a:prstGeom>
          <a:solidFill>
            <a:srgbClr val="F7F2F4"/>
          </a:solidFill>
          <a:ln/>
        </p:spPr>
      </p:sp>
      <p:sp>
        <p:nvSpPr>
          <p:cNvPr id="8" name="Text 6"/>
          <p:cNvSpPr/>
          <p:nvPr/>
        </p:nvSpPr>
        <p:spPr>
          <a:xfrm>
            <a:off x="6675120" y="1783080"/>
            <a:ext cx="4572000" cy="256032"/>
          </a:xfrm>
          <a:prstGeom prst="rect">
            <a:avLst/>
          </a:prstGeom>
          <a:noFill/>
          <a:ln/>
        </p:spPr>
        <p:txBody>
          <a:bodyPr wrap="square" lIns="0" tIns="0" rIns="0" bIns="0" rtlCol="0" anchor="ctr"/>
          <a:lstStyle/>
          <a:p>
            <a:pPr indent="0" marL="0">
              <a:buNone/>
            </a:pPr>
            <a:r>
              <a:rPr lang="en-US" sz="1250" b="1" spc="150" kern="0" dirty="0">
                <a:solidFill>
                  <a:srgbClr val="6D2E46"/>
                </a:solidFill>
                <a:latin typeface="Calibri" pitchFamily="34" charset="0"/>
                <a:ea typeface="Calibri" pitchFamily="34" charset="-122"/>
                <a:cs typeface="Calibri" pitchFamily="34" charset="-120"/>
              </a:rPr>
              <a:t>WEAKNESSES</a:t>
            </a:r>
            <a:endParaRPr lang="en-US" sz="1250" dirty="0"/>
          </a:p>
        </p:txBody>
      </p:sp>
      <p:sp>
        <p:nvSpPr>
          <p:cNvPr id="9" name="Text 7"/>
          <p:cNvSpPr/>
          <p:nvPr/>
        </p:nvSpPr>
        <p:spPr>
          <a:xfrm>
            <a:off x="6675120" y="2130552"/>
            <a:ext cx="4572000" cy="16002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Five identities across five surfaces</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Audience of 1,209 built on marriage content — not the people who'd buy neXtHer</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No voice on camera, no funnel, no list you own</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Nothing pinned, nothing for a first-time visitor</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Doing all of it alone, alongside two children</a:t>
            </a:r>
            <a:endParaRPr lang="en-US" sz="1150" dirty="0"/>
          </a:p>
        </p:txBody>
      </p:sp>
      <p:sp>
        <p:nvSpPr>
          <p:cNvPr id="10" name="Shape 8"/>
          <p:cNvSpPr/>
          <p:nvPr/>
        </p:nvSpPr>
        <p:spPr>
          <a:xfrm>
            <a:off x="640080" y="4023360"/>
            <a:ext cx="5303520" cy="2240280"/>
          </a:xfrm>
          <a:prstGeom prst="roundRect">
            <a:avLst>
              <a:gd name="adj" fmla="val 5714"/>
            </a:avLst>
          </a:prstGeom>
          <a:solidFill>
            <a:srgbClr val="F1F6F2"/>
          </a:solidFill>
          <a:ln/>
        </p:spPr>
      </p:sp>
      <p:sp>
        <p:nvSpPr>
          <p:cNvPr id="11" name="Text 9"/>
          <p:cNvSpPr/>
          <p:nvPr/>
        </p:nvSpPr>
        <p:spPr>
          <a:xfrm>
            <a:off x="914400" y="4206240"/>
            <a:ext cx="4572000" cy="256032"/>
          </a:xfrm>
          <a:prstGeom prst="rect">
            <a:avLst/>
          </a:prstGeom>
          <a:noFill/>
          <a:ln/>
        </p:spPr>
        <p:txBody>
          <a:bodyPr wrap="square" lIns="0" tIns="0" rIns="0" bIns="0" rtlCol="0" anchor="ctr"/>
          <a:lstStyle/>
          <a:p>
            <a:pPr indent="0" marL="0">
              <a:buNone/>
            </a:pPr>
            <a:r>
              <a:rPr lang="en-US" sz="1250" b="1" spc="150" kern="0" dirty="0">
                <a:solidFill>
                  <a:srgbClr val="4A7C59"/>
                </a:solidFill>
                <a:latin typeface="Calibri" pitchFamily="34" charset="0"/>
                <a:ea typeface="Calibri" pitchFamily="34" charset="-122"/>
                <a:cs typeface="Calibri" pitchFamily="34" charset="-120"/>
              </a:rPr>
              <a:t>OPPORTUNITIES</a:t>
            </a:r>
            <a:endParaRPr lang="en-US" sz="1250" dirty="0"/>
          </a:p>
        </p:txBody>
      </p:sp>
      <p:sp>
        <p:nvSpPr>
          <p:cNvPr id="12" name="Text 10"/>
          <p:cNvSpPr/>
          <p:nvPr/>
        </p:nvSpPr>
        <p:spPr>
          <a:xfrm>
            <a:off x="914400" y="4553712"/>
            <a:ext cx="4754880" cy="16002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The exact model is proven — 415K, in the US</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Nobody in India is doing it in Hinglish for mothers. I looked</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Your relationship expertise is a moat, not baggage — it's why women trust you</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Hinglish + Indian household reality is untouched</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YouTube demand for "how to use ChatGPT to…" is wide open in Hindi</a:t>
            </a:r>
            <a:endParaRPr lang="en-US" sz="1150" dirty="0"/>
          </a:p>
        </p:txBody>
      </p:sp>
      <p:sp>
        <p:nvSpPr>
          <p:cNvPr id="13" name="Shape 11"/>
          <p:cNvSpPr/>
          <p:nvPr/>
        </p:nvSpPr>
        <p:spPr>
          <a:xfrm>
            <a:off x="6400800" y="4023360"/>
            <a:ext cx="5120640" cy="2240280"/>
          </a:xfrm>
          <a:prstGeom prst="roundRect">
            <a:avLst>
              <a:gd name="adj" fmla="val 5714"/>
            </a:avLst>
          </a:prstGeom>
          <a:solidFill>
            <a:srgbClr val="F7F2F4"/>
          </a:solidFill>
          <a:ln/>
        </p:spPr>
      </p:sp>
      <p:sp>
        <p:nvSpPr>
          <p:cNvPr id="14" name="Text 12"/>
          <p:cNvSpPr/>
          <p:nvPr/>
        </p:nvSpPr>
        <p:spPr>
          <a:xfrm>
            <a:off x="6675120" y="4206240"/>
            <a:ext cx="4572000" cy="256032"/>
          </a:xfrm>
          <a:prstGeom prst="rect">
            <a:avLst/>
          </a:prstGeom>
          <a:noFill/>
          <a:ln/>
        </p:spPr>
        <p:txBody>
          <a:bodyPr wrap="square" lIns="0" tIns="0" rIns="0" bIns="0" rtlCol="0" anchor="ctr"/>
          <a:lstStyle/>
          <a:p>
            <a:pPr indent="0" marL="0">
              <a:buNone/>
            </a:pPr>
            <a:r>
              <a:rPr lang="en-US" sz="1250" b="1" spc="150" kern="0" dirty="0">
                <a:solidFill>
                  <a:srgbClr val="6D2E46"/>
                </a:solidFill>
                <a:latin typeface="Calibri" pitchFamily="34" charset="0"/>
                <a:ea typeface="Calibri" pitchFamily="34" charset="-122"/>
                <a:cs typeface="Calibri" pitchFamily="34" charset="-120"/>
              </a:rPr>
              <a:t>THREATS</a:t>
            </a:r>
            <a:endParaRPr lang="en-US" sz="1250" dirty="0"/>
          </a:p>
        </p:txBody>
      </p:sp>
      <p:sp>
        <p:nvSpPr>
          <p:cNvPr id="15" name="Text 13"/>
          <p:cNvSpPr/>
          <p:nvPr/>
        </p:nvSpPr>
        <p:spPr>
          <a:xfrm>
            <a:off x="6675120" y="4553712"/>
            <a:ext cx="4572000" cy="16002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The window. This format is ~12 months old. Someone will take this lane in India</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The "AI income" category has bad neighbours — we have to look obviously different</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Attention split across four or five ventures</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Doing everything yourself is how good creators stop posting</a:t>
            </a:r>
            <a:endParaRPr lang="en-US" sz="1150" dirty="0"/>
          </a:p>
          <a:p>
            <a:pPr marL="342900" indent="-342900">
              <a:lnSpc>
                <a:spcPts val="1600"/>
              </a:lnSpc>
              <a:spcAft>
                <a:spcPts val="500"/>
              </a:spcAft>
              <a:buSzPct val="100000"/>
              <a:buChar char="•"/>
            </a:pPr>
            <a:r>
              <a:rPr lang="en-US" sz="1150" dirty="0">
                <a:solidFill>
                  <a:srgbClr val="2B1620"/>
                </a:solidFill>
                <a:latin typeface="Calibri" pitchFamily="34" charset="0"/>
                <a:ea typeface="Calibri" pitchFamily="34" charset="-122"/>
                <a:cs typeface="Calibri" pitchFamily="34" charset="-120"/>
              </a:rPr>
              <a:t>Reach dips for a few weeks whenever you change direction</a:t>
            </a:r>
            <a:endParaRPr lang="en-US" sz="1150" dirty="0"/>
          </a:p>
        </p:txBody>
      </p:sp>
      <p:sp>
        <p:nvSpPr>
          <p:cNvPr id="16" name="Text 14"/>
          <p:cNvSpPr/>
          <p:nvPr/>
        </p:nvSpPr>
        <p:spPr>
          <a:xfrm>
            <a:off x="640080" y="6309360"/>
            <a:ext cx="10881360"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Based on your published content, your Threads activity, and market research across AI education, mom content and women's finance in India.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THE ACCOUNT YOU SENT ME</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Katie is you, about twelve months ahead</a:t>
            </a:r>
            <a:endParaRPr lang="en-US" sz="3800" dirty="0"/>
          </a:p>
        </p:txBody>
      </p:sp>
      <p:sp>
        <p:nvSpPr>
          <p:cNvPr id="4" name="Shape 2"/>
          <p:cNvSpPr/>
          <p:nvPr/>
        </p:nvSpPr>
        <p:spPr>
          <a:xfrm>
            <a:off x="640080" y="1737360"/>
            <a:ext cx="5349240" cy="2286000"/>
          </a:xfrm>
          <a:prstGeom prst="roundRect">
            <a:avLst>
              <a:gd name="adj" fmla="val 5600"/>
            </a:avLst>
          </a:prstGeom>
          <a:solidFill>
            <a:srgbClr val="3D1B2E"/>
          </a:solidFill>
          <a:ln/>
        </p:spPr>
      </p:sp>
      <p:sp>
        <p:nvSpPr>
          <p:cNvPr id="5" name="Text 3"/>
          <p:cNvSpPr/>
          <p:nvPr/>
        </p:nvSpPr>
        <p:spPr>
          <a:xfrm>
            <a:off x="987552" y="2029968"/>
            <a:ext cx="4572000" cy="274320"/>
          </a:xfrm>
          <a:prstGeom prst="rect">
            <a:avLst/>
          </a:prstGeom>
          <a:noFill/>
          <a:ln/>
        </p:spPr>
        <p:txBody>
          <a:bodyPr wrap="square" lIns="0" tIns="0" rIns="0" bIns="0" rtlCol="0" anchor="ctr"/>
          <a:lstStyle/>
          <a:p>
            <a:pPr indent="0" marL="0">
              <a:buNone/>
            </a:pPr>
            <a:r>
              <a:rPr lang="en-US" sz="1250" b="1" spc="150" kern="0" dirty="0">
                <a:solidFill>
                  <a:srgbClr val="D9A441"/>
                </a:solidFill>
                <a:latin typeface="Calibri" pitchFamily="34" charset="0"/>
                <a:ea typeface="Calibri" pitchFamily="34" charset="-122"/>
                <a:cs typeface="Calibri" pitchFamily="34" charset="-120"/>
              </a:rPr>
              <a:t>@UPGRADINGKATIE</a:t>
            </a:r>
            <a:endParaRPr lang="en-US" sz="1250" dirty="0"/>
          </a:p>
        </p:txBody>
      </p:sp>
      <p:sp>
        <p:nvSpPr>
          <p:cNvPr id="6" name="Text 4"/>
          <p:cNvSpPr/>
          <p:nvPr/>
        </p:nvSpPr>
        <p:spPr>
          <a:xfrm>
            <a:off x="987552" y="2423160"/>
            <a:ext cx="4572000" cy="640080"/>
          </a:xfrm>
          <a:prstGeom prst="rect">
            <a:avLst/>
          </a:prstGeom>
          <a:noFill/>
          <a:ln/>
        </p:spPr>
        <p:txBody>
          <a:bodyPr wrap="square" lIns="0" tIns="0" rIns="0" bIns="0" rtlCol="0" anchor="ctr"/>
          <a:lstStyle/>
          <a:p>
            <a:pPr indent="0" marL="0">
              <a:buNone/>
            </a:pPr>
            <a:r>
              <a:rPr lang="en-US" sz="4200" b="1" dirty="0">
                <a:solidFill>
                  <a:srgbClr val="D9A441"/>
                </a:solidFill>
                <a:latin typeface="Cambria" pitchFamily="34" charset="0"/>
                <a:ea typeface="Cambria" pitchFamily="34" charset="-122"/>
                <a:cs typeface="Cambria" pitchFamily="34" charset="-120"/>
              </a:rPr>
              <a:t>415,000</a:t>
            </a:r>
            <a:endParaRPr lang="en-US" sz="4200" dirty="0"/>
          </a:p>
        </p:txBody>
      </p:sp>
      <p:sp>
        <p:nvSpPr>
          <p:cNvPr id="7" name="Text 5"/>
          <p:cNvSpPr/>
          <p:nvPr/>
        </p:nvSpPr>
        <p:spPr>
          <a:xfrm>
            <a:off x="987552" y="3063240"/>
            <a:ext cx="4572000" cy="274320"/>
          </a:xfrm>
          <a:prstGeom prst="rect">
            <a:avLst/>
          </a:prstGeom>
          <a:noFill/>
          <a:ln/>
        </p:spPr>
        <p:txBody>
          <a:bodyPr wrap="square" lIns="0" tIns="0" rIns="0" bIns="0" rtlCol="0" anchor="ctr"/>
          <a:lstStyle/>
          <a:p>
            <a:pPr indent="0" marL="0">
              <a:buNone/>
            </a:pPr>
            <a:r>
              <a:rPr lang="en-US" sz="1400" dirty="0">
                <a:solidFill>
                  <a:srgbClr val="C9AEB8"/>
                </a:solidFill>
                <a:latin typeface="Calibri" pitchFamily="34" charset="0"/>
                <a:ea typeface="Calibri" pitchFamily="34" charset="-122"/>
                <a:cs typeface="Calibri" pitchFamily="34" charset="-120"/>
              </a:rPr>
              <a:t>followers · 369 posts · about a year</a:t>
            </a:r>
            <a:endParaRPr lang="en-US" sz="1400" dirty="0"/>
          </a:p>
        </p:txBody>
      </p:sp>
      <p:sp>
        <p:nvSpPr>
          <p:cNvPr id="8" name="Text 6"/>
          <p:cNvSpPr/>
          <p:nvPr/>
        </p:nvSpPr>
        <p:spPr>
          <a:xfrm>
            <a:off x="987552" y="3401568"/>
            <a:ext cx="4663440" cy="548640"/>
          </a:xfrm>
          <a:prstGeom prst="rect">
            <a:avLst/>
          </a:prstGeom>
          <a:noFill/>
          <a:ln/>
        </p:spPr>
        <p:txBody>
          <a:bodyPr wrap="square" lIns="0" tIns="0" rIns="0" bIns="0" rtlCol="0" anchor="ctr"/>
          <a:lstStyle/>
          <a:p>
            <a:pPr indent="0" marL="0">
              <a:lnSpc>
                <a:spcPts val="1900"/>
              </a:lnSpc>
              <a:buNone/>
            </a:pPr>
            <a:r>
              <a:rPr lang="en-US" sz="1350" i="1" dirty="0">
                <a:solidFill>
                  <a:srgbClr val="FFFFFF"/>
                </a:solidFill>
                <a:latin typeface="Calibri" pitchFamily="34" charset="0"/>
                <a:ea typeface="Calibri" pitchFamily="34" charset="-122"/>
                <a:cs typeface="Calibri" pitchFamily="34" charset="-120"/>
              </a:rPr>
              <a:t>Bio: "Building my dream life one AI generated to do list at a time — Mom routines · money · glowup"</a:t>
            </a:r>
            <a:endParaRPr lang="en-US" sz="1350" dirty="0"/>
          </a:p>
        </p:txBody>
      </p:sp>
      <p:sp>
        <p:nvSpPr>
          <p:cNvPr id="9" name="Shape 7"/>
          <p:cNvSpPr/>
          <p:nvPr/>
        </p:nvSpPr>
        <p:spPr>
          <a:xfrm>
            <a:off x="6446520" y="1737360"/>
            <a:ext cx="5074920" cy="2286000"/>
          </a:xfrm>
          <a:prstGeom prst="roundRect">
            <a:avLst>
              <a:gd name="adj" fmla="val 5600"/>
            </a:avLst>
          </a:prstGeom>
          <a:solidFill>
            <a:srgbClr val="F7F2F4"/>
          </a:solidFill>
          <a:ln/>
        </p:spPr>
      </p:sp>
      <p:sp>
        <p:nvSpPr>
          <p:cNvPr id="10" name="Text 8"/>
          <p:cNvSpPr/>
          <p:nvPr/>
        </p:nvSpPr>
        <p:spPr>
          <a:xfrm>
            <a:off x="6793992" y="2029968"/>
            <a:ext cx="4389120" cy="274320"/>
          </a:xfrm>
          <a:prstGeom prst="rect">
            <a:avLst/>
          </a:prstGeom>
          <a:noFill/>
          <a:ln/>
        </p:spPr>
        <p:txBody>
          <a:bodyPr wrap="square" lIns="0" tIns="0" rIns="0" bIns="0" rtlCol="0" anchor="ctr"/>
          <a:lstStyle/>
          <a:p>
            <a:pPr indent="0" marL="0">
              <a:buNone/>
            </a:pPr>
            <a:r>
              <a:rPr lang="en-US" sz="1250" b="1" spc="150" kern="0" dirty="0">
                <a:solidFill>
                  <a:srgbClr val="6D2E46"/>
                </a:solidFill>
                <a:latin typeface="Calibri" pitchFamily="34" charset="0"/>
                <a:ea typeface="Calibri" pitchFamily="34" charset="-122"/>
                <a:cs typeface="Calibri" pitchFamily="34" charset="-120"/>
              </a:rPr>
              <a:t>SHE IS</a:t>
            </a:r>
            <a:endParaRPr lang="en-US" sz="1250" dirty="0"/>
          </a:p>
        </p:txBody>
      </p:sp>
      <p:sp>
        <p:nvSpPr>
          <p:cNvPr id="11" name="Text 9"/>
          <p:cNvSpPr/>
          <p:nvPr/>
        </p:nvSpPr>
        <p:spPr>
          <a:xfrm>
            <a:off x="6793992" y="2395728"/>
            <a:ext cx="4389120" cy="109728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32 years old</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Two young children</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Filming on her phone, in her kitchen and her car</a:t>
            </a:r>
            <a:endParaRPr lang="en-US" sz="1400" dirty="0"/>
          </a:p>
          <a:p>
            <a:pPr marL="342900" indent="-342900">
              <a:lnSpc>
                <a:spcPts val="1900"/>
              </a:lnSpc>
              <a:spcAft>
                <a:spcPts val="700"/>
              </a:spcAft>
              <a:buSzPct val="100000"/>
              <a:buChar char="•"/>
            </a:pPr>
            <a:r>
              <a:rPr lang="en-US" sz="1400" dirty="0">
                <a:solidFill>
                  <a:srgbClr val="2B1620"/>
                </a:solidFill>
                <a:latin typeface="Calibri" pitchFamily="34" charset="0"/>
                <a:ea typeface="Calibri" pitchFamily="34" charset="-122"/>
                <a:cs typeface="Calibri" pitchFamily="34" charset="-120"/>
              </a:rPr>
              <a:t>Teaching mothers to use AI for their life and their income</a:t>
            </a:r>
            <a:endParaRPr lang="en-US" sz="1400" dirty="0"/>
          </a:p>
        </p:txBody>
      </p:sp>
      <p:sp>
        <p:nvSpPr>
          <p:cNvPr id="12" name="Text 10"/>
          <p:cNvSpPr/>
          <p:nvPr/>
        </p:nvSpPr>
        <p:spPr>
          <a:xfrm>
            <a:off x="6793992" y="3566160"/>
            <a:ext cx="4389120" cy="320040"/>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You're 30. Two kids. Same idea. Starting now.</a:t>
            </a:r>
            <a:endParaRPr lang="en-US" sz="1500" dirty="0"/>
          </a:p>
        </p:txBody>
      </p:sp>
      <p:sp>
        <p:nvSpPr>
          <p:cNvPr id="13" name="Shape 11"/>
          <p:cNvSpPr/>
          <p:nvPr/>
        </p:nvSpPr>
        <p:spPr>
          <a:xfrm>
            <a:off x="640080" y="4343400"/>
            <a:ext cx="10881360" cy="960120"/>
          </a:xfrm>
          <a:prstGeom prst="roundRect">
            <a:avLst>
              <a:gd name="adj" fmla="val 13333"/>
            </a:avLst>
          </a:prstGeom>
          <a:solidFill>
            <a:srgbClr val="6D2E46"/>
          </a:solidFill>
          <a:ln/>
        </p:spPr>
      </p:sp>
      <p:sp>
        <p:nvSpPr>
          <p:cNvPr id="14" name="Text 12"/>
          <p:cNvSpPr/>
          <p:nvPr/>
        </p:nvSpPr>
        <p:spPr>
          <a:xfrm>
            <a:off x="1051560" y="4343400"/>
            <a:ext cx="10058400" cy="96012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This is the single most encouraging thing in this document. You aren't betting on an idea nobody has tested. Someone with your life, your age and your audience already made it work.</a:t>
            </a:r>
            <a:endParaRPr lang="en-US" sz="1700" dirty="0"/>
          </a:p>
        </p:txBody>
      </p:sp>
      <p:sp>
        <p:nvSpPr>
          <p:cNvPr id="15" name="Text 13"/>
          <p:cNvSpPr/>
          <p:nvPr/>
        </p:nvSpPr>
        <p:spPr>
          <a:xfrm>
            <a:off x="640080" y="562356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The only difference between you and her right now is 335 posts and one clear decision.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WHAT SHE ACTUALLY DOES</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Six things Katie does that you don't — yet</a:t>
            </a:r>
            <a:endParaRPr lang="en-US" sz="3800" dirty="0"/>
          </a:p>
        </p:txBody>
      </p:sp>
      <p:sp>
        <p:nvSpPr>
          <p:cNvPr id="4" name="Shape 2"/>
          <p:cNvSpPr/>
          <p:nvPr/>
        </p:nvSpPr>
        <p:spPr>
          <a:xfrm>
            <a:off x="640080" y="1691640"/>
            <a:ext cx="411480" cy="411480"/>
          </a:xfrm>
          <a:prstGeom prst="ellipse">
            <a:avLst/>
          </a:prstGeom>
          <a:solidFill>
            <a:srgbClr val="6D2E46"/>
          </a:solidFill>
          <a:ln/>
        </p:spPr>
      </p:sp>
      <p:sp>
        <p:nvSpPr>
          <p:cNvPr id="5" name="Text 3"/>
          <p:cNvSpPr/>
          <p:nvPr/>
        </p:nvSpPr>
        <p:spPr>
          <a:xfrm>
            <a:off x="640080" y="1691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1645920"/>
            <a:ext cx="4754880" cy="292608"/>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She documents. She doesn't teach.</a:t>
            </a:r>
            <a:endParaRPr lang="en-US" sz="1500" dirty="0"/>
          </a:p>
        </p:txBody>
      </p:sp>
      <p:sp>
        <p:nvSpPr>
          <p:cNvPr id="7" name="Text 5"/>
          <p:cNvSpPr/>
          <p:nvPr/>
        </p:nvSpPr>
        <p:spPr>
          <a:xfrm>
            <a:off x="1234440" y="1965960"/>
            <a:ext cx="4754880" cy="566928"/>
          </a:xfrm>
          <a:prstGeom prst="rect">
            <a:avLst/>
          </a:prstGeom>
          <a:noFill/>
          <a:ln/>
        </p:spPr>
        <p:txBody>
          <a:bodyPr wrap="square" lIns="0" tIns="0" rIns="0" bIns="0" rtlCol="0" anchor="ctr"/>
          <a:lstStyle/>
          <a:p>
            <a:pPr indent="0" marL="0">
              <a:lnSpc>
                <a:spcPts val="1700"/>
              </a:lnSpc>
              <a:buNone/>
            </a:pPr>
            <a:r>
              <a:rPr lang="en-US" sz="1250" dirty="0">
                <a:solidFill>
                  <a:srgbClr val="7A6068"/>
                </a:solidFill>
                <a:latin typeface="Calibri" pitchFamily="34" charset="0"/>
                <a:ea typeface="Calibri" pitchFamily="34" charset="-122"/>
                <a:cs typeface="Calibri" pitchFamily="34" charset="-120"/>
              </a:rPr>
              <a:t>"86 days of small boring tasks." People come back for the next episode, not the next tip.</a:t>
            </a:r>
            <a:endParaRPr lang="en-US" sz="1250" dirty="0"/>
          </a:p>
        </p:txBody>
      </p:sp>
      <p:sp>
        <p:nvSpPr>
          <p:cNvPr id="8" name="Shape 6"/>
          <p:cNvSpPr/>
          <p:nvPr/>
        </p:nvSpPr>
        <p:spPr>
          <a:xfrm>
            <a:off x="6263640" y="1691640"/>
            <a:ext cx="411480" cy="411480"/>
          </a:xfrm>
          <a:prstGeom prst="ellipse">
            <a:avLst/>
          </a:prstGeom>
          <a:solidFill>
            <a:srgbClr val="6D2E46"/>
          </a:solidFill>
          <a:ln/>
        </p:spPr>
      </p:sp>
      <p:sp>
        <p:nvSpPr>
          <p:cNvPr id="9" name="Text 7"/>
          <p:cNvSpPr/>
          <p:nvPr/>
        </p:nvSpPr>
        <p:spPr>
          <a:xfrm>
            <a:off x="6263640" y="1691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6858000" y="1645920"/>
            <a:ext cx="4754880" cy="292608"/>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Monthly challenges with public rules</a:t>
            </a:r>
            <a:endParaRPr lang="en-US" sz="1500" dirty="0"/>
          </a:p>
        </p:txBody>
      </p:sp>
      <p:sp>
        <p:nvSpPr>
          <p:cNvPr id="11" name="Text 9"/>
          <p:cNvSpPr/>
          <p:nvPr/>
        </p:nvSpPr>
        <p:spPr>
          <a:xfrm>
            <a:off x="6858000" y="1965960"/>
            <a:ext cx="4754880" cy="566928"/>
          </a:xfrm>
          <a:prstGeom prst="rect">
            <a:avLst/>
          </a:prstGeom>
          <a:noFill/>
          <a:ln/>
        </p:spPr>
        <p:txBody>
          <a:bodyPr wrap="square" lIns="0" tIns="0" rIns="0" bIns="0" rtlCol="0" anchor="ctr"/>
          <a:lstStyle/>
          <a:p>
            <a:pPr indent="0" marL="0">
              <a:lnSpc>
                <a:spcPts val="1700"/>
              </a:lnSpc>
              <a:buNone/>
            </a:pPr>
            <a:r>
              <a:rPr lang="en-US" sz="1250" dirty="0">
                <a:solidFill>
                  <a:srgbClr val="7A6068"/>
                </a:solidFill>
                <a:latin typeface="Calibri" pitchFamily="34" charset="0"/>
                <a:ea typeface="Calibri" pitchFamily="34" charset="-122"/>
                <a:cs typeface="Calibri" pitchFamily="34" charset="-120"/>
              </a:rPr>
              <a:t>A July challenge, a decluttering challenge. She never runs out of things to post.</a:t>
            </a:r>
            <a:endParaRPr lang="en-US" sz="1250" dirty="0"/>
          </a:p>
        </p:txBody>
      </p:sp>
      <p:sp>
        <p:nvSpPr>
          <p:cNvPr id="12" name="Shape 10"/>
          <p:cNvSpPr/>
          <p:nvPr/>
        </p:nvSpPr>
        <p:spPr>
          <a:xfrm>
            <a:off x="640080" y="2743200"/>
            <a:ext cx="411480" cy="411480"/>
          </a:xfrm>
          <a:prstGeom prst="ellipse">
            <a:avLst/>
          </a:prstGeom>
          <a:solidFill>
            <a:srgbClr val="6D2E46"/>
          </a:solidFill>
          <a:ln/>
        </p:spPr>
      </p:sp>
      <p:sp>
        <p:nvSpPr>
          <p:cNvPr id="13" name="Text 11"/>
          <p:cNvSpPr/>
          <p:nvPr/>
        </p:nvSpPr>
        <p:spPr>
          <a:xfrm>
            <a:off x="640080" y="2743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234440" y="2697480"/>
            <a:ext cx="4754880" cy="292608"/>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She shows what she earns</a:t>
            </a:r>
            <a:endParaRPr lang="en-US" sz="1500" dirty="0"/>
          </a:p>
        </p:txBody>
      </p:sp>
      <p:sp>
        <p:nvSpPr>
          <p:cNvPr id="15" name="Text 13"/>
          <p:cNvSpPr/>
          <p:nvPr/>
        </p:nvSpPr>
        <p:spPr>
          <a:xfrm>
            <a:off x="1234440" y="3017520"/>
            <a:ext cx="4754880" cy="566928"/>
          </a:xfrm>
          <a:prstGeom prst="rect">
            <a:avLst/>
          </a:prstGeom>
          <a:noFill/>
          <a:ln/>
        </p:spPr>
        <p:txBody>
          <a:bodyPr wrap="square" lIns="0" tIns="0" rIns="0" bIns="0" rtlCol="0" anchor="ctr"/>
          <a:lstStyle/>
          <a:p>
            <a:pPr indent="0" marL="0">
              <a:lnSpc>
                <a:spcPts val="1700"/>
              </a:lnSpc>
              <a:buNone/>
            </a:pPr>
            <a:r>
              <a:rPr lang="en-US" sz="1250" dirty="0">
                <a:solidFill>
                  <a:srgbClr val="7A6068"/>
                </a:solidFill>
                <a:latin typeface="Calibri" pitchFamily="34" charset="0"/>
                <a:ea typeface="Calibri" pitchFamily="34" charset="-122"/>
                <a:cs typeface="Calibri" pitchFamily="34" charset="-120"/>
              </a:rPr>
              <a:t>"How much I made in June (zero brand deals)." Proof beats promises.</a:t>
            </a:r>
            <a:endParaRPr lang="en-US" sz="1250" dirty="0"/>
          </a:p>
        </p:txBody>
      </p:sp>
      <p:sp>
        <p:nvSpPr>
          <p:cNvPr id="16" name="Shape 14"/>
          <p:cNvSpPr/>
          <p:nvPr/>
        </p:nvSpPr>
        <p:spPr>
          <a:xfrm>
            <a:off x="6263640" y="2743200"/>
            <a:ext cx="411480" cy="411480"/>
          </a:xfrm>
          <a:prstGeom prst="ellipse">
            <a:avLst/>
          </a:prstGeom>
          <a:solidFill>
            <a:srgbClr val="6D2E46"/>
          </a:solidFill>
          <a:ln/>
        </p:spPr>
      </p:sp>
      <p:sp>
        <p:nvSpPr>
          <p:cNvPr id="17" name="Text 15"/>
          <p:cNvSpPr/>
          <p:nvPr/>
        </p:nvSpPr>
        <p:spPr>
          <a:xfrm>
            <a:off x="6263640" y="2743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858000" y="2697480"/>
            <a:ext cx="4754880" cy="292608"/>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She de-influences</a:t>
            </a:r>
            <a:endParaRPr lang="en-US" sz="1500" dirty="0"/>
          </a:p>
        </p:txBody>
      </p:sp>
      <p:sp>
        <p:nvSpPr>
          <p:cNvPr id="19" name="Text 17"/>
          <p:cNvSpPr/>
          <p:nvPr/>
        </p:nvSpPr>
        <p:spPr>
          <a:xfrm>
            <a:off x="6858000" y="3017520"/>
            <a:ext cx="4754880" cy="566928"/>
          </a:xfrm>
          <a:prstGeom prst="rect">
            <a:avLst/>
          </a:prstGeom>
          <a:noFill/>
          <a:ln/>
        </p:spPr>
        <p:txBody>
          <a:bodyPr wrap="square" lIns="0" tIns="0" rIns="0" bIns="0" rtlCol="0" anchor="ctr"/>
          <a:lstStyle/>
          <a:p>
            <a:pPr indent="0" marL="0">
              <a:lnSpc>
                <a:spcPts val="1700"/>
              </a:lnSpc>
              <a:buNone/>
            </a:pPr>
            <a:r>
              <a:rPr lang="en-US" sz="1250" dirty="0">
                <a:solidFill>
                  <a:srgbClr val="7A6068"/>
                </a:solidFill>
                <a:latin typeface="Calibri" pitchFamily="34" charset="0"/>
                <a:ea typeface="Calibri" pitchFamily="34" charset="-122"/>
                <a:cs typeface="Calibri" pitchFamily="34" charset="-120"/>
              </a:rPr>
              <a:t>"No manicure. Car from 2004. No cleaning lady. This is normal." It's why she's trusted.</a:t>
            </a:r>
            <a:endParaRPr lang="en-US" sz="1250" dirty="0"/>
          </a:p>
        </p:txBody>
      </p:sp>
      <p:sp>
        <p:nvSpPr>
          <p:cNvPr id="20" name="Shape 18"/>
          <p:cNvSpPr/>
          <p:nvPr/>
        </p:nvSpPr>
        <p:spPr>
          <a:xfrm>
            <a:off x="640080" y="3794760"/>
            <a:ext cx="411480" cy="411480"/>
          </a:xfrm>
          <a:prstGeom prst="ellipse">
            <a:avLst/>
          </a:prstGeom>
          <a:solidFill>
            <a:srgbClr val="6D2E46"/>
          </a:solidFill>
          <a:ln/>
        </p:spPr>
      </p:sp>
      <p:sp>
        <p:nvSpPr>
          <p:cNvPr id="21" name="Text 19"/>
          <p:cNvSpPr/>
          <p:nvPr/>
        </p:nvSpPr>
        <p:spPr>
          <a:xfrm>
            <a:off x="640080" y="37947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234440" y="3749040"/>
            <a:ext cx="4754880" cy="292608"/>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Everything is selfie camera</a:t>
            </a:r>
            <a:endParaRPr lang="en-US" sz="1500" dirty="0"/>
          </a:p>
        </p:txBody>
      </p:sp>
      <p:sp>
        <p:nvSpPr>
          <p:cNvPr id="23" name="Text 21"/>
          <p:cNvSpPr/>
          <p:nvPr/>
        </p:nvSpPr>
        <p:spPr>
          <a:xfrm>
            <a:off x="1234440" y="4069080"/>
            <a:ext cx="4754880" cy="566928"/>
          </a:xfrm>
          <a:prstGeom prst="rect">
            <a:avLst/>
          </a:prstGeom>
          <a:noFill/>
          <a:ln/>
        </p:spPr>
        <p:txBody>
          <a:bodyPr wrap="square" lIns="0" tIns="0" rIns="0" bIns="0" rtlCol="0" anchor="ctr"/>
          <a:lstStyle/>
          <a:p>
            <a:pPr indent="0" marL="0">
              <a:lnSpc>
                <a:spcPts val="1700"/>
              </a:lnSpc>
              <a:buNone/>
            </a:pPr>
            <a:r>
              <a:rPr lang="en-US" sz="1250" dirty="0">
                <a:solidFill>
                  <a:srgbClr val="7A6068"/>
                </a:solidFill>
                <a:latin typeface="Calibri" pitchFamily="34" charset="0"/>
                <a:ea typeface="Calibri" pitchFamily="34" charset="-122"/>
                <a:cs typeface="Calibri" pitchFamily="34" charset="-120"/>
              </a:rPr>
              <a:t>No crew, no lighting. She looks like the woman watching her. That's the point.</a:t>
            </a:r>
            <a:endParaRPr lang="en-US" sz="1250" dirty="0"/>
          </a:p>
        </p:txBody>
      </p:sp>
      <p:sp>
        <p:nvSpPr>
          <p:cNvPr id="24" name="Shape 22"/>
          <p:cNvSpPr/>
          <p:nvPr/>
        </p:nvSpPr>
        <p:spPr>
          <a:xfrm>
            <a:off x="6263640" y="3794760"/>
            <a:ext cx="411480" cy="411480"/>
          </a:xfrm>
          <a:prstGeom prst="ellipse">
            <a:avLst/>
          </a:prstGeom>
          <a:solidFill>
            <a:srgbClr val="6D2E46"/>
          </a:solidFill>
          <a:ln/>
        </p:spPr>
      </p:sp>
      <p:sp>
        <p:nvSpPr>
          <p:cNvPr id="25" name="Text 23"/>
          <p:cNvSpPr/>
          <p:nvPr/>
        </p:nvSpPr>
        <p:spPr>
          <a:xfrm>
            <a:off x="6263640" y="37947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6858000" y="3749040"/>
            <a:ext cx="4754880" cy="292608"/>
          </a:xfrm>
          <a:prstGeom prst="rect">
            <a:avLst/>
          </a:prstGeom>
          <a:noFill/>
          <a:ln/>
        </p:spPr>
        <p:txBody>
          <a:bodyPr wrap="square" lIns="0" tIns="0" rIns="0" bIns="0" rtlCol="0" anchor="ctr"/>
          <a:lstStyle/>
          <a:p>
            <a:pPr indent="0" marL="0">
              <a:buNone/>
            </a:pPr>
            <a:r>
              <a:rPr lang="en-US" sz="1500" b="1" dirty="0">
                <a:solidFill>
                  <a:srgbClr val="2B1620"/>
                </a:solidFill>
                <a:latin typeface="Calibri" pitchFamily="34" charset="0"/>
                <a:ea typeface="Calibri" pitchFamily="34" charset="-122"/>
                <a:cs typeface="Calibri" pitchFamily="34" charset="-120"/>
              </a:rPr>
              <a:t>Her comments ask for the prompt</a:t>
            </a:r>
            <a:endParaRPr lang="en-US" sz="1500" dirty="0"/>
          </a:p>
        </p:txBody>
      </p:sp>
      <p:sp>
        <p:nvSpPr>
          <p:cNvPr id="27" name="Text 25"/>
          <p:cNvSpPr/>
          <p:nvPr/>
        </p:nvSpPr>
        <p:spPr>
          <a:xfrm>
            <a:off x="6858000" y="4069080"/>
            <a:ext cx="4754880" cy="566928"/>
          </a:xfrm>
          <a:prstGeom prst="rect">
            <a:avLst/>
          </a:prstGeom>
          <a:noFill/>
          <a:ln/>
        </p:spPr>
        <p:txBody>
          <a:bodyPr wrap="square" lIns="0" tIns="0" rIns="0" bIns="0" rtlCol="0" anchor="ctr"/>
          <a:lstStyle/>
          <a:p>
            <a:pPr indent="0" marL="0">
              <a:lnSpc>
                <a:spcPts val="1700"/>
              </a:lnSpc>
              <a:buNone/>
            </a:pPr>
            <a:r>
              <a:rPr lang="en-US" sz="1250" dirty="0">
                <a:solidFill>
                  <a:srgbClr val="7A6068"/>
                </a:solidFill>
                <a:latin typeface="Calibri" pitchFamily="34" charset="0"/>
                <a:ea typeface="Calibri" pitchFamily="34" charset="-122"/>
                <a:cs typeface="Calibri" pitchFamily="34" charset="-120"/>
              </a:rPr>
              <a:t>Dozens of "prompt please" under one post. She shows the result and holds back the method.</a:t>
            </a:r>
            <a:endParaRPr lang="en-US" sz="1250" dirty="0"/>
          </a:p>
        </p:txBody>
      </p:sp>
      <p:sp>
        <p:nvSpPr>
          <p:cNvPr id="28" name="Shape 26"/>
          <p:cNvSpPr/>
          <p:nvPr/>
        </p:nvSpPr>
        <p:spPr>
          <a:xfrm>
            <a:off x="640080" y="5120640"/>
            <a:ext cx="10881360" cy="1005840"/>
          </a:xfrm>
          <a:prstGeom prst="roundRect">
            <a:avLst>
              <a:gd name="adj" fmla="val 12727"/>
            </a:avLst>
          </a:prstGeom>
          <a:solidFill>
            <a:srgbClr val="F7F2F4"/>
          </a:solidFill>
          <a:ln/>
        </p:spPr>
      </p:sp>
      <p:sp>
        <p:nvSpPr>
          <p:cNvPr id="29" name="Text 27"/>
          <p:cNvSpPr/>
          <p:nvPr/>
        </p:nvSpPr>
        <p:spPr>
          <a:xfrm>
            <a:off x="1051560" y="5230368"/>
            <a:ext cx="10058400" cy="274320"/>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And one rule from her pinned post that I keep thinking about:</a:t>
            </a:r>
            <a:endParaRPr lang="en-US" sz="1400" dirty="0"/>
          </a:p>
        </p:txBody>
      </p:sp>
      <p:sp>
        <p:nvSpPr>
          <p:cNvPr id="30" name="Text 28"/>
          <p:cNvSpPr/>
          <p:nvPr/>
        </p:nvSpPr>
        <p:spPr>
          <a:xfrm>
            <a:off x="1051560" y="5532120"/>
            <a:ext cx="10058400" cy="457200"/>
          </a:xfrm>
          <a:prstGeom prst="rect">
            <a:avLst/>
          </a:prstGeom>
          <a:noFill/>
          <a:ln/>
        </p:spPr>
        <p:txBody>
          <a:bodyPr wrap="square" lIns="0" tIns="0" rIns="0" bIns="0" rtlCol="0" anchor="ctr"/>
          <a:lstStyle/>
          <a:p>
            <a:pPr indent="0" marL="0">
              <a:buNone/>
            </a:pPr>
            <a:r>
              <a:rPr lang="en-US" sz="2100" b="1" dirty="0">
                <a:solidFill>
                  <a:srgbClr val="6D2E46"/>
                </a:solidFill>
                <a:latin typeface="Cambria" pitchFamily="34" charset="0"/>
                <a:ea typeface="Cambria" pitchFamily="34" charset="-122"/>
                <a:cs typeface="Cambria" pitchFamily="34" charset="-120"/>
              </a:rPr>
              <a:t>"I use AI to upgrade my life. I never use AI to write my content."</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THE OTHER ACCOUNT YOU SENT ME</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Mel Robbins is the destination, not the map</a:t>
            </a:r>
            <a:endParaRPr lang="en-US" sz="3800" dirty="0"/>
          </a:p>
        </p:txBody>
      </p:sp>
      <p:sp>
        <p:nvSpPr>
          <p:cNvPr id="4" name="Shape 2"/>
          <p:cNvSpPr/>
          <p:nvPr/>
        </p:nvSpPr>
        <p:spPr>
          <a:xfrm>
            <a:off x="640080" y="1737360"/>
            <a:ext cx="5257800" cy="2057400"/>
          </a:xfrm>
          <a:prstGeom prst="roundRect">
            <a:avLst>
              <a:gd name="adj" fmla="val 6222"/>
            </a:avLst>
          </a:prstGeom>
          <a:solidFill>
            <a:srgbClr val="F7F2F4"/>
          </a:solidFill>
          <a:ln/>
        </p:spPr>
      </p:sp>
      <p:sp>
        <p:nvSpPr>
          <p:cNvPr id="5" name="Text 3"/>
          <p:cNvSpPr/>
          <p:nvPr/>
        </p:nvSpPr>
        <p:spPr>
          <a:xfrm>
            <a:off x="960120" y="1965960"/>
            <a:ext cx="4572000" cy="274320"/>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WHAT SITS BEHIND HER INSTAGRAM</a:t>
            </a:r>
            <a:endParaRPr lang="en-US" sz="1300" dirty="0"/>
          </a:p>
        </p:txBody>
      </p:sp>
      <p:sp>
        <p:nvSpPr>
          <p:cNvPr id="6" name="Text 4"/>
          <p:cNvSpPr/>
          <p:nvPr/>
        </p:nvSpPr>
        <p:spPr>
          <a:xfrm>
            <a:off x="960120" y="2359152"/>
            <a:ext cx="4572000" cy="128016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The #1 selling book of 2025</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A top-tier podcast</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A live tour</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TIME Women of the Year</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Twenty years of work</a:t>
            </a:r>
            <a:endParaRPr lang="en-US" sz="1350" dirty="0"/>
          </a:p>
        </p:txBody>
      </p:sp>
      <p:sp>
        <p:nvSpPr>
          <p:cNvPr id="7" name="Shape 5"/>
          <p:cNvSpPr/>
          <p:nvPr/>
        </p:nvSpPr>
        <p:spPr>
          <a:xfrm>
            <a:off x="6400800" y="1737360"/>
            <a:ext cx="5120640" cy="2057400"/>
          </a:xfrm>
          <a:prstGeom prst="roundRect">
            <a:avLst>
              <a:gd name="adj" fmla="val 6222"/>
            </a:avLst>
          </a:prstGeom>
          <a:solidFill>
            <a:srgbClr val="6D2E46"/>
          </a:solidFill>
          <a:ln/>
        </p:spPr>
      </p:sp>
      <p:sp>
        <p:nvSpPr>
          <p:cNvPr id="8" name="Text 6"/>
          <p:cNvSpPr/>
          <p:nvPr/>
        </p:nvSpPr>
        <p:spPr>
          <a:xfrm>
            <a:off x="6720840" y="1965960"/>
            <a:ext cx="4480560" cy="274320"/>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WHAT THAT MEANS</a:t>
            </a:r>
            <a:endParaRPr lang="en-US" sz="1300" dirty="0"/>
          </a:p>
        </p:txBody>
      </p:sp>
      <p:sp>
        <p:nvSpPr>
          <p:cNvPr id="9" name="Text 7"/>
          <p:cNvSpPr/>
          <p:nvPr/>
        </p:nvSpPr>
        <p:spPr>
          <a:xfrm>
            <a:off x="6720840" y="2331720"/>
            <a:ext cx="4480560" cy="141732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Her quote cards work because they carry her name. Experts appear because she's Mel Robbins. Her Instagram is the result of the authority, not the thing that built it.</a:t>
            </a:r>
            <a:endParaRPr lang="en-US" sz="1300" dirty="0"/>
          </a:p>
          <a:p>
            <a:pPr indent="0" marL="0">
              <a:lnSpc>
                <a:spcPts val="1900"/>
              </a:lnSpc>
              <a:buNone/>
            </a:pPr>
            <a:endParaRPr lang="en-US" sz="1300" dirty="0"/>
          </a:p>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Copying that format today would give us beautiful posts that nobody shares.</a:t>
            </a:r>
            <a:endParaRPr lang="en-US" sz="1300" dirty="0"/>
          </a:p>
        </p:txBody>
      </p:sp>
      <p:sp>
        <p:nvSpPr>
          <p:cNvPr id="10" name="Text 8"/>
          <p:cNvSpPr/>
          <p:nvPr/>
        </p:nvSpPr>
        <p:spPr>
          <a:xfrm>
            <a:off x="640080" y="4206240"/>
            <a:ext cx="10881360" cy="320040"/>
          </a:xfrm>
          <a:prstGeom prst="rect">
            <a:avLst/>
          </a:prstGeom>
          <a:noFill/>
          <a:ln/>
        </p:spPr>
        <p:txBody>
          <a:bodyPr wrap="square" lIns="0" tIns="0" rIns="0" bIns="0" rtlCol="0" anchor="ctr"/>
          <a:lstStyle/>
          <a:p>
            <a:pPr indent="0" marL="0">
              <a:buNone/>
            </a:pPr>
            <a:r>
              <a:rPr lang="en-US" sz="1500" dirty="0">
                <a:solidFill>
                  <a:srgbClr val="7A6068"/>
                </a:solidFill>
                <a:latin typeface="Calibri" pitchFamily="34" charset="0"/>
                <a:ea typeface="Calibri" pitchFamily="34" charset="-122"/>
                <a:cs typeface="Calibri" pitchFamily="34" charset="-120"/>
              </a:rPr>
              <a:t>But there is one thing worth taking from her, and it might be the most valuable idea in this deck:</a:t>
            </a:r>
            <a:endParaRPr lang="en-US" sz="1500" dirty="0"/>
          </a:p>
        </p:txBody>
      </p:sp>
      <p:sp>
        <p:nvSpPr>
          <p:cNvPr id="11" name="Shape 9"/>
          <p:cNvSpPr/>
          <p:nvPr/>
        </p:nvSpPr>
        <p:spPr>
          <a:xfrm>
            <a:off x="640080" y="4617720"/>
            <a:ext cx="10881360" cy="1371600"/>
          </a:xfrm>
          <a:prstGeom prst="roundRect">
            <a:avLst>
              <a:gd name="adj" fmla="val 9333"/>
            </a:avLst>
          </a:prstGeom>
          <a:solidFill>
            <a:srgbClr val="3D1B2E"/>
          </a:solidFill>
          <a:ln/>
        </p:spPr>
      </p:sp>
      <p:sp>
        <p:nvSpPr>
          <p:cNvPr id="12" name="Text 10"/>
          <p:cNvSpPr/>
          <p:nvPr/>
        </p:nvSpPr>
        <p:spPr>
          <a:xfrm>
            <a:off x="1051560" y="4754880"/>
            <a:ext cx="10058400" cy="41148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Mel's whole career rests on </a:t>
            </a:r>
            <a:pPr indent="0" marL="0">
              <a:buNone/>
            </a:pPr>
            <a:r>
              <a:rPr lang="en-US" sz="2300" b="1" dirty="0">
                <a:solidFill>
                  <a:srgbClr val="D9A441"/>
                </a:solidFill>
                <a:latin typeface="Cambria" pitchFamily="34" charset="0"/>
                <a:ea typeface="Cambria" pitchFamily="34" charset="-122"/>
                <a:cs typeface="Cambria" pitchFamily="34" charset="-120"/>
              </a:rPr>
              <a:t>naming a mechanism.</a:t>
            </a:r>
            <a:endParaRPr lang="en-US" sz="2300" dirty="0"/>
          </a:p>
        </p:txBody>
      </p:sp>
      <p:sp>
        <p:nvSpPr>
          <p:cNvPr id="13" name="Text 11"/>
          <p:cNvSpPr/>
          <p:nvPr/>
        </p:nvSpPr>
        <p:spPr>
          <a:xfrm>
            <a:off x="1051560" y="5230368"/>
            <a:ext cx="10058400" cy="640080"/>
          </a:xfrm>
          <a:prstGeom prst="rect">
            <a:avLst/>
          </a:prstGeom>
          <a:noFill/>
          <a:ln/>
        </p:spPr>
        <p:txBody>
          <a:bodyPr wrap="square" lIns="0" tIns="0" rIns="0" bIns="0" rtlCol="0" anchor="ctr"/>
          <a:lstStyle/>
          <a:p>
            <a:pPr indent="0" marL="0">
              <a:lnSpc>
                <a:spcPts val="2200"/>
              </a:lnSpc>
              <a:buNone/>
            </a:pPr>
            <a:r>
              <a:rPr lang="en-US" sz="1500" dirty="0">
                <a:solidFill>
                  <a:srgbClr val="C9AEB8"/>
                </a:solidFill>
                <a:latin typeface="Calibri" pitchFamily="34" charset="0"/>
                <a:ea typeface="Calibri" pitchFamily="34" charset="-122"/>
                <a:cs typeface="Calibri" pitchFamily="34" charset="-120"/>
              </a:rPr>
              <a:t>The 5 Second Rule. The Let Them Theory. Not advice — a named, repeatable thing people describe to each other when she isn't in the room. </a:t>
            </a:r>
            <a:pPr indent="0" marL="0">
              <a:lnSpc>
                <a:spcPts val="2200"/>
              </a:lnSpc>
              <a:buNone/>
            </a:pPr>
            <a:r>
              <a:rPr lang="en-US" sz="1500" b="1" dirty="0">
                <a:solidFill>
                  <a:srgbClr val="FFFFFF"/>
                </a:solidFill>
                <a:latin typeface="Calibri" pitchFamily="34" charset="0"/>
                <a:ea typeface="Calibri" pitchFamily="34" charset="-122"/>
                <a:cs typeface="Calibri" pitchFamily="34" charset="-120"/>
              </a:rPr>
              <a:t>neXtHer needs one of those.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THE OPENING</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300" b="1" dirty="0">
                <a:solidFill>
                  <a:srgbClr val="2B1620"/>
                </a:solidFill>
                <a:latin typeface="Cambria" pitchFamily="34" charset="0"/>
                <a:ea typeface="Cambria" pitchFamily="34" charset="-122"/>
                <a:cs typeface="Cambria" pitchFamily="34" charset="-120"/>
              </a:rPr>
              <a:t>Nobody in India is standing where you could stand</a:t>
            </a:r>
            <a:endParaRPr lang="en-US" sz="3300" dirty="0"/>
          </a:p>
        </p:txBody>
      </p:sp>
      <p:sp>
        <p:nvSpPr>
          <p:cNvPr id="4" name="Shape 2"/>
          <p:cNvSpPr/>
          <p:nvPr/>
        </p:nvSpPr>
        <p:spPr>
          <a:xfrm>
            <a:off x="640080" y="1691640"/>
            <a:ext cx="10881360" cy="676656"/>
          </a:xfrm>
          <a:prstGeom prst="roundRect">
            <a:avLst>
              <a:gd name="adj" fmla="val 13514"/>
            </a:avLst>
          </a:prstGeom>
          <a:solidFill>
            <a:srgbClr val="F7F2F4"/>
          </a:solidFill>
          <a:ln/>
        </p:spPr>
      </p:sp>
      <p:sp>
        <p:nvSpPr>
          <p:cNvPr id="5" name="Text 3"/>
          <p:cNvSpPr/>
          <p:nvPr/>
        </p:nvSpPr>
        <p:spPr>
          <a:xfrm>
            <a:off x="932688" y="1691640"/>
            <a:ext cx="2651760" cy="676656"/>
          </a:xfrm>
          <a:prstGeom prst="rect">
            <a:avLst/>
          </a:prstGeom>
          <a:noFill/>
          <a:ln/>
        </p:spPr>
        <p:txBody>
          <a:bodyPr wrap="square" lIns="0" tIns="0" rIns="0" bIns="0" rtlCol="0" anchor="ctr"/>
          <a:lstStyle/>
          <a:p>
            <a:pPr indent="0" marL="0">
              <a:buNone/>
            </a:pPr>
            <a:r>
              <a:rPr lang="en-US" sz="1450" b="1" dirty="0">
                <a:solidFill>
                  <a:srgbClr val="2B1620"/>
                </a:solidFill>
                <a:latin typeface="Calibri" pitchFamily="34" charset="0"/>
                <a:ea typeface="Calibri" pitchFamily="34" charset="-122"/>
                <a:cs typeface="Calibri" pitchFamily="34" charset="-120"/>
              </a:rPr>
              <a:t>AI education in India</a:t>
            </a:r>
            <a:endParaRPr lang="en-US" sz="1450" dirty="0"/>
          </a:p>
        </p:txBody>
      </p:sp>
      <p:sp>
        <p:nvSpPr>
          <p:cNvPr id="6" name="Text 4"/>
          <p:cNvSpPr/>
          <p:nvPr/>
        </p:nvSpPr>
        <p:spPr>
          <a:xfrm>
            <a:off x="3657600" y="1691640"/>
            <a:ext cx="7589520" cy="676656"/>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Speaks to men, students and job-seekers. English, technical, career-shaped.</a:t>
            </a:r>
            <a:endParaRPr lang="en-US" sz="1400" dirty="0"/>
          </a:p>
        </p:txBody>
      </p:sp>
      <p:sp>
        <p:nvSpPr>
          <p:cNvPr id="7" name="Shape 5"/>
          <p:cNvSpPr/>
          <p:nvPr/>
        </p:nvSpPr>
        <p:spPr>
          <a:xfrm>
            <a:off x="640080" y="2468880"/>
            <a:ext cx="10881360" cy="676656"/>
          </a:xfrm>
          <a:prstGeom prst="roundRect">
            <a:avLst>
              <a:gd name="adj" fmla="val 13514"/>
            </a:avLst>
          </a:prstGeom>
          <a:solidFill>
            <a:srgbClr val="F7F2F4"/>
          </a:solidFill>
          <a:ln/>
        </p:spPr>
      </p:sp>
      <p:sp>
        <p:nvSpPr>
          <p:cNvPr id="8" name="Text 6"/>
          <p:cNvSpPr/>
          <p:nvPr/>
        </p:nvSpPr>
        <p:spPr>
          <a:xfrm>
            <a:off x="932688" y="2468880"/>
            <a:ext cx="2651760" cy="676656"/>
          </a:xfrm>
          <a:prstGeom prst="rect">
            <a:avLst/>
          </a:prstGeom>
          <a:noFill/>
          <a:ln/>
        </p:spPr>
        <p:txBody>
          <a:bodyPr wrap="square" lIns="0" tIns="0" rIns="0" bIns="0" rtlCol="0" anchor="ctr"/>
          <a:lstStyle/>
          <a:p>
            <a:pPr indent="0" marL="0">
              <a:buNone/>
            </a:pPr>
            <a:r>
              <a:rPr lang="en-US" sz="1450" b="1" dirty="0">
                <a:solidFill>
                  <a:srgbClr val="2B1620"/>
                </a:solidFill>
                <a:latin typeface="Calibri" pitchFamily="34" charset="0"/>
                <a:ea typeface="Calibri" pitchFamily="34" charset="-122"/>
                <a:cs typeface="Calibri" pitchFamily="34" charset="-120"/>
              </a:rPr>
              <a:t>Mom content in India</a:t>
            </a:r>
            <a:endParaRPr lang="en-US" sz="1450" dirty="0"/>
          </a:p>
        </p:txBody>
      </p:sp>
      <p:sp>
        <p:nvSpPr>
          <p:cNvPr id="9" name="Text 7"/>
          <p:cNvSpPr/>
          <p:nvPr/>
        </p:nvSpPr>
        <p:spPr>
          <a:xfrm>
            <a:off x="3657600" y="2468880"/>
            <a:ext cx="7589520" cy="676656"/>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Parenting, lifestyle, product hauls. Nothing about her earning.</a:t>
            </a:r>
            <a:endParaRPr lang="en-US" sz="1400" dirty="0"/>
          </a:p>
        </p:txBody>
      </p:sp>
      <p:sp>
        <p:nvSpPr>
          <p:cNvPr id="10" name="Shape 8"/>
          <p:cNvSpPr/>
          <p:nvPr/>
        </p:nvSpPr>
        <p:spPr>
          <a:xfrm>
            <a:off x="640080" y="3246120"/>
            <a:ext cx="10881360" cy="676656"/>
          </a:xfrm>
          <a:prstGeom prst="roundRect">
            <a:avLst>
              <a:gd name="adj" fmla="val 13514"/>
            </a:avLst>
          </a:prstGeom>
          <a:solidFill>
            <a:srgbClr val="F7F2F4"/>
          </a:solidFill>
          <a:ln/>
        </p:spPr>
      </p:sp>
      <p:sp>
        <p:nvSpPr>
          <p:cNvPr id="11" name="Text 9"/>
          <p:cNvSpPr/>
          <p:nvPr/>
        </p:nvSpPr>
        <p:spPr>
          <a:xfrm>
            <a:off x="932688" y="3246120"/>
            <a:ext cx="2651760" cy="676656"/>
          </a:xfrm>
          <a:prstGeom prst="rect">
            <a:avLst/>
          </a:prstGeom>
          <a:noFill/>
          <a:ln/>
        </p:spPr>
        <p:txBody>
          <a:bodyPr wrap="square" lIns="0" tIns="0" rIns="0" bIns="0" rtlCol="0" anchor="ctr"/>
          <a:lstStyle/>
          <a:p>
            <a:pPr indent="0" marL="0">
              <a:buNone/>
            </a:pPr>
            <a:r>
              <a:rPr lang="en-US" sz="1450" b="1" dirty="0">
                <a:solidFill>
                  <a:srgbClr val="2B1620"/>
                </a:solidFill>
                <a:latin typeface="Calibri" pitchFamily="34" charset="0"/>
                <a:ea typeface="Calibri" pitchFamily="34" charset="-122"/>
                <a:cs typeface="Calibri" pitchFamily="34" charset="-120"/>
              </a:rPr>
              <a:t>Women &amp; money in India</a:t>
            </a:r>
            <a:endParaRPr lang="en-US" sz="1450" dirty="0"/>
          </a:p>
        </p:txBody>
      </p:sp>
      <p:sp>
        <p:nvSpPr>
          <p:cNvPr id="12" name="Text 10"/>
          <p:cNvSpPr/>
          <p:nvPr/>
        </p:nvSpPr>
        <p:spPr>
          <a:xfrm>
            <a:off x="3657600" y="3246120"/>
            <a:ext cx="7589520" cy="676656"/>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How to invest money you already have. Not how to make your own.</a:t>
            </a:r>
            <a:endParaRPr lang="en-US" sz="1400" dirty="0"/>
          </a:p>
        </p:txBody>
      </p:sp>
      <p:sp>
        <p:nvSpPr>
          <p:cNvPr id="13" name="Shape 11"/>
          <p:cNvSpPr/>
          <p:nvPr/>
        </p:nvSpPr>
        <p:spPr>
          <a:xfrm>
            <a:off x="640080" y="4023360"/>
            <a:ext cx="10881360" cy="868680"/>
          </a:xfrm>
          <a:prstGeom prst="roundRect">
            <a:avLst>
              <a:gd name="adj" fmla="val 10526"/>
            </a:avLst>
          </a:prstGeom>
          <a:solidFill>
            <a:srgbClr val="6D2E46"/>
          </a:solidFill>
          <a:ln/>
        </p:spPr>
      </p:sp>
      <p:sp>
        <p:nvSpPr>
          <p:cNvPr id="14" name="Text 12"/>
          <p:cNvSpPr/>
          <p:nvPr/>
        </p:nvSpPr>
        <p:spPr>
          <a:xfrm>
            <a:off x="932688" y="4023360"/>
            <a:ext cx="2651760" cy="868680"/>
          </a:xfrm>
          <a:prstGeom prst="rect">
            <a:avLst/>
          </a:prstGeom>
          <a:noFill/>
          <a:ln/>
        </p:spPr>
        <p:txBody>
          <a:bodyPr wrap="square" lIns="0" tIns="0" rIns="0" bIns="0" rtlCol="0" anchor="ctr"/>
          <a:lstStyle/>
          <a:p>
            <a:pPr indent="0" marL="0">
              <a:buNone/>
            </a:pPr>
            <a:r>
              <a:rPr lang="en-US" sz="1450" b="1" dirty="0">
                <a:solidFill>
                  <a:srgbClr val="D9A441"/>
                </a:solidFill>
                <a:latin typeface="Calibri" pitchFamily="34" charset="0"/>
                <a:ea typeface="Calibri" pitchFamily="34" charset="-122"/>
                <a:cs typeface="Calibri" pitchFamily="34" charset="-120"/>
              </a:rPr>
              <a:t>The empty space</a:t>
            </a:r>
            <a:endParaRPr lang="en-US" sz="1450" dirty="0"/>
          </a:p>
        </p:txBody>
      </p:sp>
      <p:sp>
        <p:nvSpPr>
          <p:cNvPr id="15" name="Text 13"/>
          <p:cNvSpPr/>
          <p:nvPr/>
        </p:nvSpPr>
        <p:spPr>
          <a:xfrm>
            <a:off x="3657600" y="4023360"/>
            <a:ext cx="7315200" cy="868680"/>
          </a:xfrm>
          <a:prstGeom prst="rect">
            <a:avLst/>
          </a:prstGeom>
          <a:noFill/>
          <a:ln/>
        </p:spPr>
        <p:txBody>
          <a:bodyPr wrap="square" lIns="0" tIns="0" rIns="0" bIns="0" rtlCol="0" anchor="ctr"/>
          <a:lstStyle/>
          <a:p>
            <a:pPr indent="0" marL="0">
              <a:lnSpc>
                <a:spcPts val="2100"/>
              </a:lnSpc>
              <a:buNone/>
            </a:pPr>
            <a:r>
              <a:rPr lang="en-US" sz="1550" dirty="0">
                <a:solidFill>
                  <a:srgbClr val="FFFFFF"/>
                </a:solidFill>
                <a:latin typeface="Calibri" pitchFamily="34" charset="0"/>
                <a:ea typeface="Calibri" pitchFamily="34" charset="-122"/>
                <a:cs typeface="Calibri" pitchFamily="34" charset="-120"/>
              </a:rPr>
              <a:t>An Indian mother teaching other Indian mothers to earn with AI — in Hinglish, with in-laws and school runs and permission in the picture.</a:t>
            </a:r>
            <a:endParaRPr lang="en-US" sz="1550" dirty="0"/>
          </a:p>
        </p:txBody>
      </p:sp>
      <p:sp>
        <p:nvSpPr>
          <p:cNvPr id="16" name="Text 14"/>
          <p:cNvSpPr/>
          <p:nvPr/>
        </p:nvSpPr>
        <p:spPr>
          <a:xfrm>
            <a:off x="640080" y="5669280"/>
            <a:ext cx="10515600" cy="640080"/>
          </a:xfrm>
          <a:prstGeom prst="rect">
            <a:avLst/>
          </a:prstGeom>
          <a:noFill/>
          <a:ln/>
        </p:spPr>
        <p:txBody>
          <a:bodyPr wrap="square" lIns="0" tIns="0" rIns="0" bIns="0" rtlCol="0" anchor="ctr"/>
          <a:lstStyle/>
          <a:p>
            <a:pPr indent="0" marL="0">
              <a:lnSpc>
                <a:spcPts val="2400"/>
              </a:lnSpc>
              <a:buNone/>
            </a:pPr>
            <a:r>
              <a:rPr lang="en-US" sz="1700" dirty="0">
                <a:solidFill>
                  <a:srgbClr val="2B1620"/>
                </a:solidFill>
                <a:latin typeface="Calibri" pitchFamily="34" charset="0"/>
                <a:ea typeface="Calibri" pitchFamily="34" charset="-122"/>
                <a:cs typeface="Calibri" pitchFamily="34" charset="-120"/>
              </a:rPr>
              <a:t>I searched for someone already doing this. </a:t>
            </a:r>
            <a:pPr indent="0" marL="0">
              <a:lnSpc>
                <a:spcPts val="2400"/>
              </a:lnSpc>
              <a:buNone/>
            </a:pPr>
            <a:r>
              <a:rPr lang="en-US" sz="1700" b="1" dirty="0">
                <a:solidFill>
                  <a:srgbClr val="2B1620"/>
                </a:solidFill>
                <a:latin typeface="Calibri" pitchFamily="34" charset="0"/>
                <a:ea typeface="Calibri" pitchFamily="34" charset="-122"/>
                <a:cs typeface="Calibri" pitchFamily="34" charset="-120"/>
              </a:rPr>
              <a:t>I couldn't find her.</a:t>
            </a:r>
            <a:pPr indent="0" marL="0">
              <a:lnSpc>
                <a:spcPts val="2400"/>
              </a:lnSpc>
              <a:buNone/>
            </a:pPr>
            <a:r>
              <a:rPr lang="en-US" sz="1700" dirty="0">
                <a:solidFill>
                  <a:srgbClr val="2B1620"/>
                </a:solidFill>
                <a:latin typeface="Calibri" pitchFamily="34" charset="0"/>
                <a:ea typeface="Calibri" pitchFamily="34" charset="-122"/>
                <a:cs typeface="Calibri" pitchFamily="34" charset="-120"/>
              </a:rPr>
              <a:t> That won't be true in a year — this format is only about twelve months old, and it's spreading.</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BACK TO YOUR QUESTION</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What you asked for, and what I think you need</a:t>
            </a:r>
            <a:endParaRPr lang="en-US" sz="3800" dirty="0"/>
          </a:p>
        </p:txBody>
      </p:sp>
      <p:sp>
        <p:nvSpPr>
          <p:cNvPr id="4" name="Shape 2"/>
          <p:cNvSpPr/>
          <p:nvPr/>
        </p:nvSpPr>
        <p:spPr>
          <a:xfrm>
            <a:off x="640080" y="1691640"/>
            <a:ext cx="5257800" cy="2651760"/>
          </a:xfrm>
          <a:prstGeom prst="roundRect">
            <a:avLst>
              <a:gd name="adj" fmla="val 4828"/>
            </a:avLst>
          </a:prstGeom>
          <a:solidFill>
            <a:srgbClr val="F7F2F4"/>
          </a:solidFill>
          <a:ln/>
        </p:spPr>
      </p:sp>
      <p:sp>
        <p:nvSpPr>
          <p:cNvPr id="5" name="Text 3"/>
          <p:cNvSpPr/>
          <p:nvPr/>
        </p:nvSpPr>
        <p:spPr>
          <a:xfrm>
            <a:off x="969264" y="1965960"/>
            <a:ext cx="4572000" cy="274320"/>
          </a:xfrm>
          <a:prstGeom prst="rect">
            <a:avLst/>
          </a:prstGeom>
          <a:noFill/>
          <a:ln/>
        </p:spPr>
        <p:txBody>
          <a:bodyPr wrap="square" lIns="0" tIns="0" rIns="0" bIns="0" rtlCol="0" anchor="ctr"/>
          <a:lstStyle/>
          <a:p>
            <a:pPr indent="0" marL="0">
              <a:buNone/>
            </a:pPr>
            <a:r>
              <a:rPr lang="en-US" sz="1300" b="1" spc="150" kern="0" dirty="0">
                <a:solidFill>
                  <a:srgbClr val="7A6068"/>
                </a:solidFill>
                <a:latin typeface="Calibri" pitchFamily="34" charset="0"/>
                <a:ea typeface="Calibri" pitchFamily="34" charset="-122"/>
                <a:cs typeface="Calibri" pitchFamily="34" charset="-120"/>
              </a:rPr>
              <a:t>WHAT YOU ASKED FOR</a:t>
            </a:r>
            <a:endParaRPr lang="en-US" sz="1300" dirty="0"/>
          </a:p>
        </p:txBody>
      </p:sp>
      <p:sp>
        <p:nvSpPr>
          <p:cNvPr id="6" name="Text 4"/>
          <p:cNvSpPr/>
          <p:nvPr/>
        </p:nvSpPr>
        <p:spPr>
          <a:xfrm>
            <a:off x="969264" y="2359152"/>
            <a:ext cx="4572000" cy="1463040"/>
          </a:xfrm>
          <a:prstGeom prst="rect">
            <a:avLst/>
          </a:prstGeom>
          <a:noFill/>
          <a:ln/>
        </p:spPr>
        <p:txBody>
          <a:bodyPr wrap="square" lIns="0" tIns="0" rIns="0" bIns="0" rtlCol="0" anchor="ctr"/>
          <a:lstStyle/>
          <a:p>
            <a:pPr indent="0" marL="0">
              <a:lnSpc>
                <a:spcPts val="2900"/>
              </a:lnSpc>
              <a:buNone/>
            </a:pPr>
            <a:r>
              <a:rPr lang="en-US" sz="2200" b="1" dirty="0">
                <a:solidFill>
                  <a:srgbClr val="6D2E46"/>
                </a:solidFill>
                <a:latin typeface="Cambria" pitchFamily="34" charset="0"/>
                <a:ea typeface="Cambria" pitchFamily="34" charset="-122"/>
                <a:cs typeface="Cambria" pitchFamily="34" charset="-120"/>
              </a:rPr>
              <a:t>Film</a:t>
            </a:r>
            <a:endParaRPr lang="en-US" sz="2200" dirty="0"/>
          </a:p>
          <a:p>
            <a:pPr indent="0" marL="0">
              <a:lnSpc>
                <a:spcPts val="2900"/>
              </a:lnSpc>
              <a:buNone/>
            </a:pPr>
            <a:r>
              <a:rPr lang="en-US" sz="2200" b="1" dirty="0">
                <a:solidFill>
                  <a:srgbClr val="6D2E46"/>
                </a:solidFill>
                <a:latin typeface="Cambria" pitchFamily="34" charset="0"/>
                <a:ea typeface="Cambria" pitchFamily="34" charset="-122"/>
                <a:cs typeface="Cambria" pitchFamily="34" charset="-120"/>
              </a:rPr>
              <a:t>Edit</a:t>
            </a:r>
            <a:endParaRPr lang="en-US" sz="2200" dirty="0"/>
          </a:p>
          <a:p>
            <a:pPr indent="0" marL="0">
              <a:lnSpc>
                <a:spcPts val="2900"/>
              </a:lnSpc>
              <a:buNone/>
            </a:pPr>
            <a:r>
              <a:rPr lang="en-US" sz="2200" b="1" dirty="0">
                <a:solidFill>
                  <a:srgbClr val="6D2E46"/>
                </a:solidFill>
                <a:latin typeface="Cambria" pitchFamily="34" charset="0"/>
                <a:ea typeface="Cambria" pitchFamily="34" charset="-122"/>
                <a:cs typeface="Cambria" pitchFamily="34" charset="-120"/>
              </a:rPr>
              <a:t>Publish</a:t>
            </a:r>
            <a:endParaRPr lang="en-US" sz="2200" dirty="0"/>
          </a:p>
          <a:p>
            <a:pPr indent="0" marL="0">
              <a:lnSpc>
                <a:spcPts val="2900"/>
              </a:lnSpc>
              <a:buNone/>
            </a:pPr>
            <a:r>
              <a:rPr lang="en-US" sz="2200" b="1" dirty="0">
                <a:solidFill>
                  <a:srgbClr val="6D2E46"/>
                </a:solidFill>
                <a:latin typeface="Cambria" pitchFamily="34" charset="0"/>
                <a:ea typeface="Cambria" pitchFamily="34" charset="-122"/>
                <a:cs typeface="Cambria" pitchFamily="34" charset="-120"/>
              </a:rPr>
              <a:t>Grow</a:t>
            </a:r>
            <a:endParaRPr lang="en-US" sz="2200" dirty="0"/>
          </a:p>
        </p:txBody>
      </p:sp>
      <p:sp>
        <p:nvSpPr>
          <p:cNvPr id="7" name="Text 5"/>
          <p:cNvSpPr/>
          <p:nvPr/>
        </p:nvSpPr>
        <p:spPr>
          <a:xfrm>
            <a:off x="969264" y="3840480"/>
            <a:ext cx="4572000" cy="320040"/>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All of which we do, and will do.</a:t>
            </a:r>
            <a:endParaRPr lang="en-US" sz="1400" dirty="0"/>
          </a:p>
        </p:txBody>
      </p:sp>
      <p:sp>
        <p:nvSpPr>
          <p:cNvPr id="8" name="Shape 6"/>
          <p:cNvSpPr/>
          <p:nvPr/>
        </p:nvSpPr>
        <p:spPr>
          <a:xfrm>
            <a:off x="6400800" y="1691640"/>
            <a:ext cx="5120640" cy="2651760"/>
          </a:xfrm>
          <a:prstGeom prst="roundRect">
            <a:avLst>
              <a:gd name="adj" fmla="val 4828"/>
            </a:avLst>
          </a:prstGeom>
          <a:solidFill>
            <a:srgbClr val="6D2E46"/>
          </a:solidFill>
          <a:ln/>
        </p:spPr>
      </p:sp>
      <p:sp>
        <p:nvSpPr>
          <p:cNvPr id="9" name="Text 7"/>
          <p:cNvSpPr/>
          <p:nvPr/>
        </p:nvSpPr>
        <p:spPr>
          <a:xfrm>
            <a:off x="6729984" y="1965960"/>
            <a:ext cx="4480560" cy="274320"/>
          </a:xfrm>
          <a:prstGeom prst="rect">
            <a:avLst/>
          </a:prstGeom>
          <a:noFill/>
          <a:ln/>
        </p:spPr>
        <p:txBody>
          <a:bodyPr wrap="square" lIns="0" tIns="0" rIns="0" bIns="0" rtlCol="0" anchor="ctr"/>
          <a:lstStyle/>
          <a:p>
            <a:pPr indent="0" marL="0">
              <a:buNone/>
            </a:pPr>
            <a:r>
              <a:rPr lang="en-US" sz="1300" b="1" spc="150" kern="0" dirty="0">
                <a:solidFill>
                  <a:srgbClr val="D9A441"/>
                </a:solidFill>
                <a:latin typeface="Calibri" pitchFamily="34" charset="0"/>
                <a:ea typeface="Calibri" pitchFamily="34" charset="-122"/>
                <a:cs typeface="Calibri" pitchFamily="34" charset="-120"/>
              </a:rPr>
              <a:t>WHAT I THINK YOU NEED FIRST</a:t>
            </a:r>
            <a:endParaRPr lang="en-US" sz="1300" dirty="0"/>
          </a:p>
        </p:txBody>
      </p:sp>
      <p:sp>
        <p:nvSpPr>
          <p:cNvPr id="10" name="Text 8"/>
          <p:cNvSpPr/>
          <p:nvPr/>
        </p:nvSpPr>
        <p:spPr>
          <a:xfrm>
            <a:off x="6729984" y="2377440"/>
            <a:ext cx="4480560" cy="1005840"/>
          </a:xfrm>
          <a:prstGeom prst="rect">
            <a:avLst/>
          </a:prstGeom>
          <a:noFill/>
          <a:ln/>
        </p:spPr>
        <p:txBody>
          <a:bodyPr wrap="square" lIns="0" tIns="0" rIns="0" bIns="0" rtlCol="0" anchor="ctr"/>
          <a:lstStyle/>
          <a:p>
            <a:pPr indent="0" marL="0">
              <a:lnSpc>
                <a:spcPts val="2900"/>
              </a:lnSpc>
              <a:buNone/>
            </a:pPr>
            <a:r>
              <a:rPr lang="en-US" sz="2100" b="1" dirty="0">
                <a:solidFill>
                  <a:srgbClr val="FFFFFF"/>
                </a:solidFill>
                <a:latin typeface="Cambria" pitchFamily="34" charset="0"/>
                <a:ea typeface="Cambria" pitchFamily="34" charset="-122"/>
                <a:cs typeface="Cambria" pitchFamily="34" charset="-120"/>
              </a:rPr>
              <a:t>One decision about who neXtHer is for — and a name for the thing you do.</a:t>
            </a:r>
            <a:endParaRPr lang="en-US" sz="2100" dirty="0"/>
          </a:p>
        </p:txBody>
      </p:sp>
      <p:sp>
        <p:nvSpPr>
          <p:cNvPr id="11" name="Text 9"/>
          <p:cNvSpPr/>
          <p:nvPr/>
        </p:nvSpPr>
        <p:spPr>
          <a:xfrm>
            <a:off x="6729984" y="3520440"/>
            <a:ext cx="4480560" cy="731520"/>
          </a:xfrm>
          <a:prstGeom prst="rect">
            <a:avLst/>
          </a:prstGeom>
          <a:noFill/>
          <a:ln/>
        </p:spPr>
        <p:txBody>
          <a:bodyPr wrap="square" lIns="0" tIns="0" rIns="0" bIns="0" rtlCol="0" anchor="ctr"/>
          <a:lstStyle/>
          <a:p>
            <a:pPr indent="0" marL="0">
              <a:lnSpc>
                <a:spcPts val="2000"/>
              </a:lnSpc>
              <a:buNone/>
            </a:pPr>
            <a:r>
              <a:rPr lang="en-US" sz="1400" dirty="0">
                <a:solidFill>
                  <a:srgbClr val="C9AEB8"/>
                </a:solidFill>
                <a:latin typeface="Calibri" pitchFamily="34" charset="0"/>
                <a:ea typeface="Calibri" pitchFamily="34" charset="-122"/>
                <a:cs typeface="Calibri" pitchFamily="34" charset="-120"/>
              </a:rPr>
              <a:t>Then the filming has something to be about, and every video builds the same thing instead of five different things.</a:t>
            </a:r>
            <a:endParaRPr lang="en-US" sz="1400" dirty="0"/>
          </a:p>
        </p:txBody>
      </p:sp>
      <p:sp>
        <p:nvSpPr>
          <p:cNvPr id="12" name="Shape 10"/>
          <p:cNvSpPr/>
          <p:nvPr/>
        </p:nvSpPr>
        <p:spPr>
          <a:xfrm>
            <a:off x="640080" y="4663440"/>
            <a:ext cx="10881360" cy="914400"/>
          </a:xfrm>
          <a:prstGeom prst="roundRect">
            <a:avLst>
              <a:gd name="adj" fmla="val 14000"/>
            </a:avLst>
          </a:prstGeom>
          <a:solidFill>
            <a:srgbClr val="3D1B2E"/>
          </a:solidFill>
          <a:ln/>
        </p:spPr>
      </p:sp>
      <p:sp>
        <p:nvSpPr>
          <p:cNvPr id="13" name="Text 11"/>
          <p:cNvSpPr/>
          <p:nvPr/>
        </p:nvSpPr>
        <p:spPr>
          <a:xfrm>
            <a:off x="1051560" y="4663440"/>
            <a:ext cx="10058400" cy="914400"/>
          </a:xfrm>
          <a:prstGeom prst="rect">
            <a:avLst/>
          </a:prstGeom>
          <a:noFill/>
          <a:ln/>
        </p:spPr>
        <p:txBody>
          <a:bodyPr wrap="square" lIns="0" tIns="0" rIns="0" bIns="0" rtlCol="0" anchor="ctr"/>
          <a:lstStyle/>
          <a:p>
            <a:pPr indent="0" marL="0">
              <a:lnSpc>
                <a:spcPts val="2800"/>
              </a:lnSpc>
              <a:buNone/>
            </a:pPr>
            <a:r>
              <a:rPr lang="en-US" sz="2100" dirty="0">
                <a:solidFill>
                  <a:srgbClr val="FFFFFF"/>
                </a:solidFill>
                <a:latin typeface="Cambria" pitchFamily="34" charset="0"/>
                <a:ea typeface="Cambria" pitchFamily="34" charset="-122"/>
                <a:cs typeface="Cambria" pitchFamily="34" charset="-120"/>
              </a:rPr>
              <a:t>Filming five days a week against five identities doesn't fix the problem. It just produces five kinds of noise, faster.</a:t>
            </a:r>
            <a:endParaRPr lang="en-US" sz="2100" dirty="0"/>
          </a:p>
        </p:txBody>
      </p:sp>
      <p:sp>
        <p:nvSpPr>
          <p:cNvPr id="14" name="Text 12"/>
          <p:cNvSpPr/>
          <p:nvPr/>
        </p:nvSpPr>
        <p:spPr>
          <a:xfrm>
            <a:off x="640080" y="589788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I'd rather tell you that now than take your money and let you find out in month three.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TWO WAYS WE CAN WORK</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Both are real. They just do different jobs.</a:t>
            </a:r>
            <a:endParaRPr lang="en-US" sz="3800" dirty="0"/>
          </a:p>
        </p:txBody>
      </p:sp>
      <p:sp>
        <p:nvSpPr>
          <p:cNvPr id="4" name="Shape 2"/>
          <p:cNvSpPr/>
          <p:nvPr/>
        </p:nvSpPr>
        <p:spPr>
          <a:xfrm>
            <a:off x="640080" y="1645920"/>
            <a:ext cx="5257800" cy="3657600"/>
          </a:xfrm>
          <a:prstGeom prst="roundRect">
            <a:avLst>
              <a:gd name="adj" fmla="val 3500"/>
            </a:avLst>
          </a:prstGeom>
          <a:solidFill>
            <a:srgbClr val="F7F2F4"/>
          </a:solidFill>
          <a:ln/>
        </p:spPr>
      </p:sp>
      <p:sp>
        <p:nvSpPr>
          <p:cNvPr id="5" name="Text 3"/>
          <p:cNvSpPr/>
          <p:nvPr/>
        </p:nvSpPr>
        <p:spPr>
          <a:xfrm>
            <a:off x="969264" y="1874520"/>
            <a:ext cx="4572000" cy="256032"/>
          </a:xfrm>
          <a:prstGeom prst="rect">
            <a:avLst/>
          </a:prstGeom>
          <a:noFill/>
          <a:ln/>
        </p:spPr>
        <p:txBody>
          <a:bodyPr wrap="square" lIns="0" tIns="0" rIns="0" bIns="0" rtlCol="0" anchor="ctr"/>
          <a:lstStyle/>
          <a:p>
            <a:pPr indent="0" marL="0">
              <a:buNone/>
            </a:pPr>
            <a:r>
              <a:rPr lang="en-US" sz="1250" b="1" spc="150" kern="0" dirty="0">
                <a:solidFill>
                  <a:srgbClr val="7A6068"/>
                </a:solidFill>
                <a:latin typeface="Calibri" pitchFamily="34" charset="0"/>
                <a:ea typeface="Calibri" pitchFamily="34" charset="-122"/>
                <a:cs typeface="Calibri" pitchFamily="34" charset="-120"/>
              </a:rPr>
              <a:t>OPTION 1</a:t>
            </a:r>
            <a:endParaRPr lang="en-US" sz="1250" dirty="0"/>
          </a:p>
        </p:txBody>
      </p:sp>
      <p:sp>
        <p:nvSpPr>
          <p:cNvPr id="6" name="Text 4"/>
          <p:cNvSpPr/>
          <p:nvPr/>
        </p:nvSpPr>
        <p:spPr>
          <a:xfrm>
            <a:off x="969264" y="2176272"/>
            <a:ext cx="4572000" cy="411480"/>
          </a:xfrm>
          <a:prstGeom prst="rect">
            <a:avLst/>
          </a:prstGeom>
          <a:noFill/>
          <a:ln/>
        </p:spPr>
        <p:txBody>
          <a:bodyPr wrap="square" lIns="0" tIns="0" rIns="0" bIns="0" rtlCol="0" anchor="ctr"/>
          <a:lstStyle/>
          <a:p>
            <a:pPr indent="0" marL="0">
              <a:buNone/>
            </a:pPr>
            <a:r>
              <a:rPr lang="en-US" sz="2500" b="1" dirty="0">
                <a:solidFill>
                  <a:srgbClr val="2B1620"/>
                </a:solidFill>
                <a:latin typeface="Cambria" pitchFamily="34" charset="0"/>
                <a:ea typeface="Cambria" pitchFamily="34" charset="-122"/>
                <a:cs typeface="Cambria" pitchFamily="34" charset="-120"/>
              </a:rPr>
              <a:t>Production only</a:t>
            </a:r>
            <a:endParaRPr lang="en-US" sz="2500" dirty="0"/>
          </a:p>
        </p:txBody>
      </p:sp>
      <p:sp>
        <p:nvSpPr>
          <p:cNvPr id="7" name="Text 5"/>
          <p:cNvSpPr/>
          <p:nvPr/>
        </p:nvSpPr>
        <p:spPr>
          <a:xfrm>
            <a:off x="969264" y="2633472"/>
            <a:ext cx="4572000" cy="274320"/>
          </a:xfrm>
          <a:prstGeom prst="rect">
            <a:avLst/>
          </a:prstGeom>
          <a:noFill/>
          <a:ln/>
        </p:spPr>
        <p:txBody>
          <a:bodyPr wrap="square" lIns="0" tIns="0" rIns="0" bIns="0" rtlCol="0" anchor="ctr"/>
          <a:lstStyle/>
          <a:p>
            <a:pPr indent="0" marL="0">
              <a:buNone/>
            </a:pPr>
            <a:r>
              <a:rPr lang="en-US" sz="1400" dirty="0">
                <a:solidFill>
                  <a:srgbClr val="7A6068"/>
                </a:solidFill>
                <a:latin typeface="Calibri" pitchFamily="34" charset="0"/>
                <a:ea typeface="Calibri" pitchFamily="34" charset="-122"/>
                <a:cs typeface="Calibri" pitchFamily="34" charset="-120"/>
              </a:rPr>
              <a:t>You direct. We shoot and edit.</a:t>
            </a:r>
            <a:endParaRPr lang="en-US" sz="1400" dirty="0"/>
          </a:p>
        </p:txBody>
      </p:sp>
      <p:sp>
        <p:nvSpPr>
          <p:cNvPr id="8" name="Text 6"/>
          <p:cNvSpPr/>
          <p:nvPr/>
        </p:nvSpPr>
        <p:spPr>
          <a:xfrm>
            <a:off x="969264" y="2999232"/>
            <a:ext cx="4572000" cy="118872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Shooting days and editing</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Covers, captions, subtitles</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You decide what to post and when</a:t>
            </a:r>
            <a:endParaRPr lang="en-US" sz="1350" dirty="0"/>
          </a:p>
          <a:p>
            <a:pPr marL="342900" indent="-342900">
              <a:lnSpc>
                <a:spcPts val="1900"/>
              </a:lnSpc>
              <a:spcAft>
                <a:spcPts val="700"/>
              </a:spcAft>
              <a:buSzPct val="100000"/>
              <a:buChar char="•"/>
            </a:pPr>
            <a:r>
              <a:rPr lang="en-US" sz="1350" dirty="0">
                <a:solidFill>
                  <a:srgbClr val="2B1620"/>
                </a:solidFill>
                <a:latin typeface="Calibri" pitchFamily="34" charset="0"/>
                <a:ea typeface="Calibri" pitchFamily="34" charset="-122"/>
                <a:cs typeface="Calibri" pitchFamily="34" charset="-120"/>
              </a:rPr>
              <a:t>You keep running strategy, DMs and everything else</a:t>
            </a:r>
            <a:endParaRPr lang="en-US" sz="1350" dirty="0"/>
          </a:p>
        </p:txBody>
      </p:sp>
      <p:sp>
        <p:nvSpPr>
          <p:cNvPr id="9" name="Text 7"/>
          <p:cNvSpPr/>
          <p:nvPr/>
        </p:nvSpPr>
        <p:spPr>
          <a:xfrm>
            <a:off x="969264" y="4297680"/>
            <a:ext cx="4572000" cy="914400"/>
          </a:xfrm>
          <a:prstGeom prst="rect">
            <a:avLst/>
          </a:prstGeom>
          <a:noFill/>
          <a:ln/>
        </p:spPr>
        <p:txBody>
          <a:bodyPr wrap="square" lIns="0" tIns="0" rIns="0" bIns="0" rtlCol="0" anchor="ctr"/>
          <a:lstStyle/>
          <a:p>
            <a:pPr indent="0" marL="0">
              <a:lnSpc>
                <a:spcPts val="1900"/>
              </a:lnSpc>
              <a:buNone/>
            </a:pPr>
            <a:r>
              <a:rPr lang="en-US" sz="1300" dirty="0">
                <a:solidFill>
                  <a:srgbClr val="6D2E46"/>
                </a:solidFill>
                <a:latin typeface="Calibri" pitchFamily="34" charset="0"/>
                <a:ea typeface="Calibri" pitchFamily="34" charset="-122"/>
                <a:cs typeface="Calibri" pitchFamily="34" charset="-120"/>
              </a:rPr>
              <a:t>Honest note: this works if you already know exactly what neXtHer is and who it's for. It makes your content look better. It won't fix the five-identities problem, because that isn't a filming problem.</a:t>
            </a:r>
            <a:endParaRPr lang="en-US" sz="1300" dirty="0"/>
          </a:p>
        </p:txBody>
      </p:sp>
      <p:sp>
        <p:nvSpPr>
          <p:cNvPr id="10" name="Shape 8"/>
          <p:cNvSpPr/>
          <p:nvPr/>
        </p:nvSpPr>
        <p:spPr>
          <a:xfrm>
            <a:off x="6400800" y="1645920"/>
            <a:ext cx="5120640" cy="3657600"/>
          </a:xfrm>
          <a:prstGeom prst="roundRect">
            <a:avLst>
              <a:gd name="adj" fmla="val 3500"/>
            </a:avLst>
          </a:prstGeom>
          <a:solidFill>
            <a:srgbClr val="6D2E46"/>
          </a:solidFill>
          <a:ln/>
        </p:spPr>
      </p:sp>
      <p:sp>
        <p:nvSpPr>
          <p:cNvPr id="11" name="Text 9"/>
          <p:cNvSpPr/>
          <p:nvPr/>
        </p:nvSpPr>
        <p:spPr>
          <a:xfrm>
            <a:off x="6729984" y="1874520"/>
            <a:ext cx="4480560" cy="256032"/>
          </a:xfrm>
          <a:prstGeom prst="rect">
            <a:avLst/>
          </a:prstGeom>
          <a:noFill/>
          <a:ln/>
        </p:spPr>
        <p:txBody>
          <a:bodyPr wrap="square" lIns="0" tIns="0" rIns="0" bIns="0" rtlCol="0" anchor="ctr"/>
          <a:lstStyle/>
          <a:p>
            <a:pPr indent="0" marL="0">
              <a:buNone/>
            </a:pPr>
            <a:r>
              <a:rPr lang="en-US" sz="1250" b="1" spc="150" kern="0" dirty="0">
                <a:solidFill>
                  <a:srgbClr val="D9A441"/>
                </a:solidFill>
                <a:latin typeface="Calibri" pitchFamily="34" charset="0"/>
                <a:ea typeface="Calibri" pitchFamily="34" charset="-122"/>
                <a:cs typeface="Calibri" pitchFamily="34" charset="-120"/>
              </a:rPr>
              <a:t>OPTION 2 — WHAT I'D RECOMMEND</a:t>
            </a:r>
            <a:endParaRPr lang="en-US" sz="1250" dirty="0"/>
          </a:p>
        </p:txBody>
      </p:sp>
      <p:sp>
        <p:nvSpPr>
          <p:cNvPr id="12" name="Text 10"/>
          <p:cNvSpPr/>
          <p:nvPr/>
        </p:nvSpPr>
        <p:spPr>
          <a:xfrm>
            <a:off x="6729984" y="2176272"/>
            <a:ext cx="4480560" cy="41148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Production + the system</a:t>
            </a:r>
            <a:endParaRPr lang="en-US" sz="2500" dirty="0"/>
          </a:p>
        </p:txBody>
      </p:sp>
      <p:sp>
        <p:nvSpPr>
          <p:cNvPr id="13" name="Text 11"/>
          <p:cNvSpPr/>
          <p:nvPr/>
        </p:nvSpPr>
        <p:spPr>
          <a:xfrm>
            <a:off x="6729984" y="2633472"/>
            <a:ext cx="4480560" cy="274320"/>
          </a:xfrm>
          <a:prstGeom prst="rect">
            <a:avLst/>
          </a:prstGeom>
          <a:noFill/>
          <a:ln/>
        </p:spPr>
        <p:txBody>
          <a:bodyPr wrap="square" lIns="0" tIns="0" rIns="0" bIns="0" rtlCol="0" anchor="ctr"/>
          <a:lstStyle/>
          <a:p>
            <a:pPr indent="0" marL="0">
              <a:buNone/>
            </a:pPr>
            <a:r>
              <a:rPr lang="en-US" sz="1400" dirty="0">
                <a:solidFill>
                  <a:srgbClr val="C9AEB8"/>
                </a:solidFill>
                <a:latin typeface="Calibri" pitchFamily="34" charset="0"/>
                <a:ea typeface="Calibri" pitchFamily="34" charset="-122"/>
                <a:cs typeface="Calibri" pitchFamily="34" charset="-120"/>
              </a:rPr>
              <a:t>We build the brand with you, then run it every week.</a:t>
            </a:r>
            <a:endParaRPr lang="en-US" sz="1400" dirty="0"/>
          </a:p>
        </p:txBody>
      </p:sp>
      <p:sp>
        <p:nvSpPr>
          <p:cNvPr id="14" name="Text 12"/>
          <p:cNvSpPr/>
          <p:nvPr/>
        </p:nvSpPr>
        <p:spPr>
          <a:xfrm>
            <a:off x="6729984" y="2999232"/>
            <a:ext cx="4480560" cy="173736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Everything in Option 1</a:t>
            </a:r>
            <a:endParaRPr lang="en-US" sz="1350" dirty="0"/>
          </a:p>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The positioning decision and your named method</a:t>
            </a:r>
            <a:endParaRPr lang="en-US" sz="1350" dirty="0"/>
          </a:p>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Profile rebuilt — bio, pinned posts, highlights</a:t>
            </a:r>
            <a:endParaRPr lang="en-US" sz="1350" dirty="0"/>
          </a:p>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5 posts a week, published for you</a:t>
            </a:r>
            <a:endParaRPr lang="en-US" sz="1350" dirty="0"/>
          </a:p>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YouTube from the same footage</a:t>
            </a:r>
            <a:endParaRPr lang="en-US" sz="1350" dirty="0"/>
          </a:p>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WhatsApp list, DM replies, comment engine</a:t>
            </a:r>
            <a:endParaRPr lang="en-US" sz="1350" dirty="0"/>
          </a:p>
          <a:p>
            <a:pPr marL="342900" indent="-342900">
              <a:lnSpc>
                <a:spcPts val="1900"/>
              </a:lnSpc>
              <a:spcAft>
                <a:spcPts val="700"/>
              </a:spcAft>
              <a:buSzPct val="100000"/>
              <a:buChar char="•"/>
            </a:pPr>
            <a:r>
              <a:rPr lang="en-US" sz="1350" dirty="0">
                <a:solidFill>
                  <a:srgbClr val="FFFFFF"/>
                </a:solidFill>
                <a:latin typeface="Calibri" pitchFamily="34" charset="0"/>
                <a:ea typeface="Calibri" pitchFamily="34" charset="-122"/>
                <a:cs typeface="Calibri" pitchFamily="34" charset="-120"/>
              </a:rPr>
              <a:t>Weekly numbers, so you always know what's working</a:t>
            </a:r>
            <a:endParaRPr lang="en-US" sz="1350" dirty="0"/>
          </a:p>
        </p:txBody>
      </p:sp>
      <p:sp>
        <p:nvSpPr>
          <p:cNvPr id="15" name="Text 13"/>
          <p:cNvSpPr/>
          <p:nvPr/>
        </p:nvSpPr>
        <p:spPr>
          <a:xfrm>
            <a:off x="6729984" y="4754880"/>
            <a:ext cx="4480560" cy="548640"/>
          </a:xfrm>
          <a:prstGeom prst="rect">
            <a:avLst/>
          </a:prstGeom>
          <a:noFill/>
          <a:ln/>
        </p:spPr>
        <p:txBody>
          <a:bodyPr wrap="square" lIns="0" tIns="0" rIns="0" bIns="0" rtlCol="0" anchor="ctr"/>
          <a:lstStyle/>
          <a:p>
            <a:pPr indent="0" marL="0">
              <a:lnSpc>
                <a:spcPts val="1900"/>
              </a:lnSpc>
              <a:buNone/>
            </a:pPr>
            <a:r>
              <a:rPr lang="en-US" sz="1300" dirty="0">
                <a:solidFill>
                  <a:srgbClr val="D9A441"/>
                </a:solidFill>
                <a:latin typeface="Calibri" pitchFamily="34" charset="0"/>
                <a:ea typeface="Calibri" pitchFamily="34" charset="-122"/>
                <a:cs typeface="Calibri" pitchFamily="34" charset="-120"/>
              </a:rPr>
              <a:t>This is the one that changes the outcome — because it fixes the thing that's actually holding the account back.</a:t>
            </a:r>
            <a:endParaRPr lang="en-US" sz="1300" dirty="0"/>
          </a:p>
        </p:txBody>
      </p:sp>
      <p:sp>
        <p:nvSpPr>
          <p:cNvPr id="16" name="Text 14"/>
          <p:cNvSpPr/>
          <p:nvPr/>
        </p:nvSpPr>
        <p:spPr>
          <a:xfrm>
            <a:off x="640080" y="5577840"/>
            <a:ext cx="10881360" cy="621792"/>
          </a:xfrm>
          <a:prstGeom prst="rect">
            <a:avLst/>
          </a:prstGeom>
          <a:noFill/>
          <a:ln/>
        </p:spPr>
        <p:txBody>
          <a:bodyPr wrap="square" lIns="0" tIns="0" rIns="0" bIns="0" rtlCol="0" anchor="ctr"/>
          <a:lstStyle/>
          <a:p>
            <a:pPr indent="0" marL="0">
              <a:lnSpc>
                <a:spcPts val="2400"/>
              </a:lnSpc>
              <a:buNone/>
            </a:pPr>
            <a:r>
              <a:rPr lang="en-US" sz="1700" i="1" dirty="0">
                <a:solidFill>
                  <a:srgbClr val="D9A441"/>
                </a:solidFill>
                <a:latin typeface="Cambria" pitchFamily="34" charset="0"/>
                <a:ea typeface="Cambria" pitchFamily="34" charset="-122"/>
                <a:cs typeface="Cambria" pitchFamily="34" charset="-120"/>
              </a:rPr>
              <a:t>If you only want Option 1, say so and we'll do it properly. I'd just rather you chose it knowing what it does and doesn't solve.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WHAT CHANGES</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The first 90 days, honestly</a:t>
            </a:r>
            <a:endParaRPr lang="en-US" sz="3800" dirty="0"/>
          </a:p>
        </p:txBody>
      </p:sp>
      <p:sp>
        <p:nvSpPr>
          <p:cNvPr id="4" name="Shape 2"/>
          <p:cNvSpPr/>
          <p:nvPr/>
        </p:nvSpPr>
        <p:spPr>
          <a:xfrm>
            <a:off x="640080" y="1645920"/>
            <a:ext cx="3511296" cy="1828800"/>
          </a:xfrm>
          <a:prstGeom prst="roundRect">
            <a:avLst>
              <a:gd name="adj" fmla="val 7000"/>
            </a:avLst>
          </a:prstGeom>
          <a:solidFill>
            <a:srgbClr val="2B1620"/>
          </a:solidFill>
          <a:ln/>
        </p:spPr>
      </p:sp>
      <p:sp>
        <p:nvSpPr>
          <p:cNvPr id="5" name="Text 3"/>
          <p:cNvSpPr/>
          <p:nvPr/>
        </p:nvSpPr>
        <p:spPr>
          <a:xfrm>
            <a:off x="896112" y="1828800"/>
            <a:ext cx="3017520" cy="256032"/>
          </a:xfrm>
          <a:prstGeom prst="rect">
            <a:avLst/>
          </a:prstGeom>
          <a:noFill/>
          <a:ln/>
        </p:spPr>
        <p:txBody>
          <a:bodyPr wrap="square" lIns="0" tIns="0" rIns="0" bIns="0" rtlCol="0" anchor="ctr"/>
          <a:lstStyle/>
          <a:p>
            <a:pPr indent="0" marL="0">
              <a:buNone/>
            </a:pPr>
            <a:r>
              <a:rPr lang="en-US" sz="1200" b="1" spc="150" kern="0" dirty="0">
                <a:solidFill>
                  <a:srgbClr val="6D2E46"/>
                </a:solidFill>
                <a:latin typeface="Calibri" pitchFamily="34" charset="0"/>
                <a:ea typeface="Calibri" pitchFamily="34" charset="-122"/>
                <a:cs typeface="Calibri" pitchFamily="34" charset="-120"/>
              </a:rPr>
              <a:t>WEEKS 1–2</a:t>
            </a:r>
            <a:endParaRPr lang="en-US" sz="1200" dirty="0"/>
          </a:p>
        </p:txBody>
      </p:sp>
      <p:sp>
        <p:nvSpPr>
          <p:cNvPr id="6" name="Text 4"/>
          <p:cNvSpPr/>
          <p:nvPr/>
        </p:nvSpPr>
        <p:spPr>
          <a:xfrm>
            <a:off x="896112" y="2121408"/>
            <a:ext cx="3017520" cy="32004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Decide and rebuild</a:t>
            </a:r>
            <a:endParaRPr lang="en-US" sz="1900" dirty="0"/>
          </a:p>
        </p:txBody>
      </p:sp>
      <p:sp>
        <p:nvSpPr>
          <p:cNvPr id="7" name="Text 5"/>
          <p:cNvSpPr/>
          <p:nvPr/>
        </p:nvSpPr>
        <p:spPr>
          <a:xfrm>
            <a:off x="896112" y="2514600"/>
            <a:ext cx="3017520" cy="914400"/>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One audience, one promise</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Your named method</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Bio, pinned posts, highlights</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First videos with you speaking</a:t>
            </a:r>
            <a:endParaRPr lang="en-US" sz="1200" dirty="0"/>
          </a:p>
        </p:txBody>
      </p:sp>
      <p:sp>
        <p:nvSpPr>
          <p:cNvPr id="8" name="Shape 6"/>
          <p:cNvSpPr/>
          <p:nvPr/>
        </p:nvSpPr>
        <p:spPr>
          <a:xfrm>
            <a:off x="4325112" y="1645920"/>
            <a:ext cx="3511296" cy="1828800"/>
          </a:xfrm>
          <a:prstGeom prst="roundRect">
            <a:avLst>
              <a:gd name="adj" fmla="val 7000"/>
            </a:avLst>
          </a:prstGeom>
          <a:solidFill>
            <a:srgbClr val="2B1620"/>
          </a:solidFill>
          <a:ln/>
        </p:spPr>
      </p:sp>
      <p:sp>
        <p:nvSpPr>
          <p:cNvPr id="9" name="Text 7"/>
          <p:cNvSpPr/>
          <p:nvPr/>
        </p:nvSpPr>
        <p:spPr>
          <a:xfrm>
            <a:off x="4581144" y="1828800"/>
            <a:ext cx="3017520" cy="256032"/>
          </a:xfrm>
          <a:prstGeom prst="rect">
            <a:avLst/>
          </a:prstGeom>
          <a:noFill/>
          <a:ln/>
        </p:spPr>
        <p:txBody>
          <a:bodyPr wrap="square" lIns="0" tIns="0" rIns="0" bIns="0" rtlCol="0" anchor="ctr"/>
          <a:lstStyle/>
          <a:p>
            <a:pPr indent="0" marL="0">
              <a:buNone/>
            </a:pPr>
            <a:r>
              <a:rPr lang="en-US" sz="1200" b="1" spc="150" kern="0" dirty="0">
                <a:solidFill>
                  <a:srgbClr val="6D2E46"/>
                </a:solidFill>
                <a:latin typeface="Calibri" pitchFamily="34" charset="0"/>
                <a:ea typeface="Calibri" pitchFamily="34" charset="-122"/>
                <a:cs typeface="Calibri" pitchFamily="34" charset="-120"/>
              </a:rPr>
              <a:t>WEEKS 3–8</a:t>
            </a:r>
            <a:endParaRPr lang="en-US" sz="1200" dirty="0"/>
          </a:p>
        </p:txBody>
      </p:sp>
      <p:sp>
        <p:nvSpPr>
          <p:cNvPr id="10" name="Text 8"/>
          <p:cNvSpPr/>
          <p:nvPr/>
        </p:nvSpPr>
        <p:spPr>
          <a:xfrm>
            <a:off x="4581144" y="2121408"/>
            <a:ext cx="3017520" cy="32004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Volume and voice</a:t>
            </a:r>
            <a:endParaRPr lang="en-US" sz="1900" dirty="0"/>
          </a:p>
        </p:txBody>
      </p:sp>
      <p:sp>
        <p:nvSpPr>
          <p:cNvPr id="11" name="Text 9"/>
          <p:cNvSpPr/>
          <p:nvPr/>
        </p:nvSpPr>
        <p:spPr>
          <a:xfrm>
            <a:off x="4581144" y="2514600"/>
            <a:ext cx="3017520" cy="914400"/>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5 posts a week, every week</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Screen recordings — you, teaching</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YouTube from the same shoot</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WhatsApp list starts filling</a:t>
            </a:r>
            <a:endParaRPr lang="en-US" sz="1200" dirty="0"/>
          </a:p>
        </p:txBody>
      </p:sp>
      <p:sp>
        <p:nvSpPr>
          <p:cNvPr id="12" name="Shape 10"/>
          <p:cNvSpPr/>
          <p:nvPr/>
        </p:nvSpPr>
        <p:spPr>
          <a:xfrm>
            <a:off x="8010144" y="1645920"/>
            <a:ext cx="3511296" cy="1828800"/>
          </a:xfrm>
          <a:prstGeom prst="roundRect">
            <a:avLst>
              <a:gd name="adj" fmla="val 7000"/>
            </a:avLst>
          </a:prstGeom>
          <a:solidFill>
            <a:srgbClr val="FFFFFF"/>
          </a:solidFill>
          <a:ln/>
        </p:spPr>
      </p:sp>
      <p:sp>
        <p:nvSpPr>
          <p:cNvPr id="13" name="Text 11"/>
          <p:cNvSpPr/>
          <p:nvPr/>
        </p:nvSpPr>
        <p:spPr>
          <a:xfrm>
            <a:off x="8266176" y="1828800"/>
            <a:ext cx="3017520" cy="256032"/>
          </a:xfrm>
          <a:prstGeom prst="rect">
            <a:avLst/>
          </a:prstGeom>
          <a:noFill/>
          <a:ln/>
        </p:spPr>
        <p:txBody>
          <a:bodyPr wrap="square" lIns="0" tIns="0" rIns="0" bIns="0" rtlCol="0" anchor="ctr"/>
          <a:lstStyle/>
          <a:p>
            <a:pPr indent="0" marL="0">
              <a:buNone/>
            </a:pPr>
            <a:r>
              <a:rPr lang="en-US" sz="1200" b="1" spc="150" kern="0" dirty="0">
                <a:solidFill>
                  <a:srgbClr val="D9A441"/>
                </a:solidFill>
                <a:latin typeface="Calibri" pitchFamily="34" charset="0"/>
                <a:ea typeface="Calibri" pitchFamily="34" charset="-122"/>
                <a:cs typeface="Calibri" pitchFamily="34" charset="-120"/>
              </a:rPr>
              <a:t>WEEKS 9–12</a:t>
            </a:r>
            <a:endParaRPr lang="en-US" sz="1200" dirty="0"/>
          </a:p>
        </p:txBody>
      </p:sp>
      <p:sp>
        <p:nvSpPr>
          <p:cNvPr id="14" name="Text 12"/>
          <p:cNvSpPr/>
          <p:nvPr/>
        </p:nvSpPr>
        <p:spPr>
          <a:xfrm>
            <a:off x="8266176" y="2121408"/>
            <a:ext cx="3017520" cy="32004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Compound</a:t>
            </a:r>
            <a:endParaRPr lang="en-US" sz="1900" dirty="0"/>
          </a:p>
        </p:txBody>
      </p:sp>
      <p:sp>
        <p:nvSpPr>
          <p:cNvPr id="15" name="Text 13"/>
          <p:cNvSpPr/>
          <p:nvPr/>
        </p:nvSpPr>
        <p:spPr>
          <a:xfrm>
            <a:off x="8266176" y="2514600"/>
            <a:ext cx="3017520" cy="914400"/>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Double down on what worked</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Your first paid workshop</a:t>
            </a:r>
            <a:endParaRPr lang="en-US" sz="1200" dirty="0"/>
          </a:p>
          <a:p>
            <a:pPr marL="342900" indent="-342900">
              <a:lnSpc>
                <a:spcPts val="16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Systems running without you chasing them</a:t>
            </a:r>
            <a:endParaRPr lang="en-US" sz="1200" dirty="0"/>
          </a:p>
        </p:txBody>
      </p:sp>
      <p:sp>
        <p:nvSpPr>
          <p:cNvPr id="16" name="Text 14"/>
          <p:cNvSpPr/>
          <p:nvPr/>
        </p:nvSpPr>
        <p:spPr>
          <a:xfrm>
            <a:off x="640080" y="3840480"/>
            <a:ext cx="10881360" cy="320040"/>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Where you'd realistically be at day 90:</a:t>
            </a:r>
            <a:endParaRPr lang="en-US" sz="1500" dirty="0"/>
          </a:p>
        </p:txBody>
      </p:sp>
      <p:sp>
        <p:nvSpPr>
          <p:cNvPr id="17" name="Shape 15"/>
          <p:cNvSpPr/>
          <p:nvPr/>
        </p:nvSpPr>
        <p:spPr>
          <a:xfrm>
            <a:off x="640080" y="4206240"/>
            <a:ext cx="2587752" cy="1234440"/>
          </a:xfrm>
          <a:prstGeom prst="roundRect">
            <a:avLst>
              <a:gd name="adj" fmla="val 10370"/>
            </a:avLst>
          </a:prstGeom>
          <a:solidFill>
            <a:srgbClr val="3D1B2E"/>
          </a:solidFill>
          <a:ln/>
        </p:spPr>
      </p:sp>
      <p:sp>
        <p:nvSpPr>
          <p:cNvPr id="18" name="Text 16"/>
          <p:cNvSpPr/>
          <p:nvPr/>
        </p:nvSpPr>
        <p:spPr>
          <a:xfrm>
            <a:off x="877824" y="4370832"/>
            <a:ext cx="2103120" cy="457200"/>
          </a:xfrm>
          <a:prstGeom prst="rect">
            <a:avLst/>
          </a:prstGeom>
          <a:noFill/>
          <a:ln/>
        </p:spPr>
        <p:txBody>
          <a:bodyPr wrap="square" lIns="0" tIns="0" rIns="0" bIns="0" rtlCol="0" anchor="ctr"/>
          <a:lstStyle/>
          <a:p>
            <a:pPr indent="0" marL="0">
              <a:buNone/>
            </a:pPr>
            <a:r>
              <a:rPr lang="en-US" sz="2800" b="1" dirty="0">
                <a:solidFill>
                  <a:srgbClr val="D9A441"/>
                </a:solidFill>
                <a:latin typeface="Cambria" pitchFamily="34" charset="0"/>
                <a:ea typeface="Cambria" pitchFamily="34" charset="-122"/>
                <a:cs typeface="Cambria" pitchFamily="34" charset="-120"/>
              </a:rPr>
              <a:t>~65</a:t>
            </a:r>
            <a:endParaRPr lang="en-US" sz="2800" dirty="0"/>
          </a:p>
        </p:txBody>
      </p:sp>
      <p:sp>
        <p:nvSpPr>
          <p:cNvPr id="19" name="Text 17"/>
          <p:cNvSpPr/>
          <p:nvPr/>
        </p:nvSpPr>
        <p:spPr>
          <a:xfrm>
            <a:off x="877824" y="4846320"/>
            <a:ext cx="2148840" cy="548640"/>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posts published, vs 34 today — the library doubles</a:t>
            </a:r>
            <a:endParaRPr lang="en-US" sz="1150" dirty="0"/>
          </a:p>
        </p:txBody>
      </p:sp>
      <p:sp>
        <p:nvSpPr>
          <p:cNvPr id="20" name="Shape 18"/>
          <p:cNvSpPr/>
          <p:nvPr/>
        </p:nvSpPr>
        <p:spPr>
          <a:xfrm>
            <a:off x="3401568" y="4206240"/>
            <a:ext cx="2587752" cy="1234440"/>
          </a:xfrm>
          <a:prstGeom prst="roundRect">
            <a:avLst>
              <a:gd name="adj" fmla="val 10370"/>
            </a:avLst>
          </a:prstGeom>
          <a:solidFill>
            <a:srgbClr val="3D1B2E"/>
          </a:solidFill>
          <a:ln/>
        </p:spPr>
      </p:sp>
      <p:sp>
        <p:nvSpPr>
          <p:cNvPr id="21" name="Text 19"/>
          <p:cNvSpPr/>
          <p:nvPr/>
        </p:nvSpPr>
        <p:spPr>
          <a:xfrm>
            <a:off x="3639312" y="4370832"/>
            <a:ext cx="2103120" cy="457200"/>
          </a:xfrm>
          <a:prstGeom prst="rect">
            <a:avLst/>
          </a:prstGeom>
          <a:noFill/>
          <a:ln/>
        </p:spPr>
        <p:txBody>
          <a:bodyPr wrap="square" lIns="0" tIns="0" rIns="0" bIns="0" rtlCol="0" anchor="ctr"/>
          <a:lstStyle/>
          <a:p>
            <a:pPr indent="0" marL="0">
              <a:buNone/>
            </a:pPr>
            <a:r>
              <a:rPr lang="en-US" sz="2800" b="1" dirty="0">
                <a:solidFill>
                  <a:srgbClr val="D9A441"/>
                </a:solidFill>
                <a:latin typeface="Cambria" pitchFamily="34" charset="0"/>
                <a:ea typeface="Cambria" pitchFamily="34" charset="-122"/>
                <a:cs typeface="Cambria" pitchFamily="34" charset="-120"/>
              </a:rPr>
              <a:t>500</a:t>
            </a:r>
            <a:endParaRPr lang="en-US" sz="2800" dirty="0"/>
          </a:p>
        </p:txBody>
      </p:sp>
      <p:sp>
        <p:nvSpPr>
          <p:cNvPr id="22" name="Text 20"/>
          <p:cNvSpPr/>
          <p:nvPr/>
        </p:nvSpPr>
        <p:spPr>
          <a:xfrm>
            <a:off x="3639312" y="4846320"/>
            <a:ext cx="2148840" cy="548640"/>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people on a WhatsApp list you own outright</a:t>
            </a:r>
            <a:endParaRPr lang="en-US" sz="1150" dirty="0"/>
          </a:p>
        </p:txBody>
      </p:sp>
      <p:sp>
        <p:nvSpPr>
          <p:cNvPr id="23" name="Shape 21"/>
          <p:cNvSpPr/>
          <p:nvPr/>
        </p:nvSpPr>
        <p:spPr>
          <a:xfrm>
            <a:off x="6163056" y="4206240"/>
            <a:ext cx="2587752" cy="1234440"/>
          </a:xfrm>
          <a:prstGeom prst="roundRect">
            <a:avLst>
              <a:gd name="adj" fmla="val 10370"/>
            </a:avLst>
          </a:prstGeom>
          <a:solidFill>
            <a:srgbClr val="3D1B2E"/>
          </a:solidFill>
          <a:ln/>
        </p:spPr>
      </p:sp>
      <p:sp>
        <p:nvSpPr>
          <p:cNvPr id="24" name="Text 22"/>
          <p:cNvSpPr/>
          <p:nvPr/>
        </p:nvSpPr>
        <p:spPr>
          <a:xfrm>
            <a:off x="6400800" y="4370832"/>
            <a:ext cx="2103120" cy="457200"/>
          </a:xfrm>
          <a:prstGeom prst="rect">
            <a:avLst/>
          </a:prstGeom>
          <a:noFill/>
          <a:ln/>
        </p:spPr>
        <p:txBody>
          <a:bodyPr wrap="square" lIns="0" tIns="0" rIns="0" bIns="0" rtlCol="0" anchor="ctr"/>
          <a:lstStyle/>
          <a:p>
            <a:pPr indent="0" marL="0">
              <a:buNone/>
            </a:pPr>
            <a:r>
              <a:rPr lang="en-US" sz="2800" b="1" dirty="0">
                <a:solidFill>
                  <a:srgbClr val="D9A441"/>
                </a:solidFill>
                <a:latin typeface="Cambria" pitchFamily="34" charset="0"/>
                <a:ea typeface="Cambria" pitchFamily="34" charset="-122"/>
                <a:cs typeface="Cambria" pitchFamily="34" charset="-120"/>
              </a:rPr>
              <a:t>3×</a:t>
            </a:r>
            <a:endParaRPr lang="en-US" sz="2800" dirty="0"/>
          </a:p>
        </p:txBody>
      </p:sp>
      <p:sp>
        <p:nvSpPr>
          <p:cNvPr id="25" name="Text 23"/>
          <p:cNvSpPr/>
          <p:nvPr/>
        </p:nvSpPr>
        <p:spPr>
          <a:xfrm>
            <a:off x="6400800" y="4846320"/>
            <a:ext cx="2148840" cy="548640"/>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saves and shares per post — the thing that actually drives reach</a:t>
            </a:r>
            <a:endParaRPr lang="en-US" sz="1150" dirty="0"/>
          </a:p>
        </p:txBody>
      </p:sp>
      <p:sp>
        <p:nvSpPr>
          <p:cNvPr id="26" name="Shape 24"/>
          <p:cNvSpPr/>
          <p:nvPr/>
        </p:nvSpPr>
        <p:spPr>
          <a:xfrm>
            <a:off x="8924544" y="4206240"/>
            <a:ext cx="2587752" cy="1234440"/>
          </a:xfrm>
          <a:prstGeom prst="roundRect">
            <a:avLst>
              <a:gd name="adj" fmla="val 10370"/>
            </a:avLst>
          </a:prstGeom>
          <a:solidFill>
            <a:srgbClr val="3D1B2E"/>
          </a:solidFill>
          <a:ln/>
        </p:spPr>
      </p:sp>
      <p:sp>
        <p:nvSpPr>
          <p:cNvPr id="27" name="Text 25"/>
          <p:cNvSpPr/>
          <p:nvPr/>
        </p:nvSpPr>
        <p:spPr>
          <a:xfrm>
            <a:off x="9162288" y="4370832"/>
            <a:ext cx="2103120" cy="457200"/>
          </a:xfrm>
          <a:prstGeom prst="rect">
            <a:avLst/>
          </a:prstGeom>
          <a:noFill/>
          <a:ln/>
        </p:spPr>
        <p:txBody>
          <a:bodyPr wrap="square" lIns="0" tIns="0" rIns="0" bIns="0" rtlCol="0" anchor="ctr"/>
          <a:lstStyle/>
          <a:p>
            <a:pPr indent="0" marL="0">
              <a:buNone/>
            </a:pPr>
            <a:r>
              <a:rPr lang="en-US" sz="2800" b="1" dirty="0">
                <a:solidFill>
                  <a:srgbClr val="D9A441"/>
                </a:solidFill>
                <a:latin typeface="Cambria" pitchFamily="34" charset="0"/>
                <a:ea typeface="Cambria" pitchFamily="34" charset="-122"/>
                <a:cs typeface="Cambria" pitchFamily="34" charset="-120"/>
              </a:rPr>
              <a:t>1</a:t>
            </a:r>
            <a:endParaRPr lang="en-US" sz="2800" dirty="0"/>
          </a:p>
        </p:txBody>
      </p:sp>
      <p:sp>
        <p:nvSpPr>
          <p:cNvPr id="28" name="Text 26"/>
          <p:cNvSpPr/>
          <p:nvPr/>
        </p:nvSpPr>
        <p:spPr>
          <a:xfrm>
            <a:off x="9162288" y="4846320"/>
            <a:ext cx="2148840" cy="548640"/>
          </a:xfrm>
          <a:prstGeom prst="rect">
            <a:avLst/>
          </a:prstGeom>
          <a:noFill/>
          <a:ln/>
        </p:spPr>
        <p:txBody>
          <a:bodyPr wrap="square" lIns="0" tIns="0" rIns="0" bIns="0" rtlCol="0" anchor="ctr"/>
          <a:lstStyle/>
          <a:p>
            <a:pPr indent="0" marL="0">
              <a:lnSpc>
                <a:spcPts val="1500"/>
              </a:lnSpc>
              <a:buNone/>
            </a:pPr>
            <a:r>
              <a:rPr lang="en-US" sz="1150" dirty="0">
                <a:solidFill>
                  <a:srgbClr val="C9AEB8"/>
                </a:solidFill>
                <a:latin typeface="Calibri" pitchFamily="34" charset="0"/>
                <a:ea typeface="Calibri" pitchFamily="34" charset="-122"/>
                <a:cs typeface="Calibri" pitchFamily="34" charset="-120"/>
              </a:rPr>
              <a:t>clear brand, that a stranger understands in five seconds</a:t>
            </a:r>
            <a:endParaRPr lang="en-US" sz="1150" dirty="0"/>
          </a:p>
        </p:txBody>
      </p:sp>
      <p:sp>
        <p:nvSpPr>
          <p:cNvPr id="29" name="Text 27"/>
          <p:cNvSpPr/>
          <p:nvPr/>
        </p:nvSpPr>
        <p:spPr>
          <a:xfrm>
            <a:off x="640080" y="6309360"/>
            <a:ext cx="10881360" cy="320040"/>
          </a:xfrm>
          <a:prstGeom prst="rect">
            <a:avLst/>
          </a:prstGeom>
          <a:noFill/>
          <a:ln/>
        </p:spPr>
        <p:txBody>
          <a:bodyPr wrap="square" lIns="0" tIns="0" rIns="0" bIns="0" rtlCol="0" anchor="ctr"/>
          <a:lstStyle/>
          <a:p>
            <a:pPr indent="0" marL="0">
              <a:buNone/>
            </a:pPr>
            <a:r>
              <a:rPr lang="en-US" sz="1050" i="1" dirty="0">
                <a:solidFill>
                  <a:srgbClr val="7A6068"/>
                </a:solidFill>
                <a:latin typeface="Calibri" pitchFamily="34" charset="0"/>
                <a:ea typeface="Calibri" pitchFamily="34" charset="-122"/>
                <a:cs typeface="Calibri" pitchFamily="34" charset="-120"/>
              </a:rPr>
              <a:t>Katie reached 415K in about a year across 369 posts. Nobody can promise you a follower number — but volume, clarity and consistency are the levers she pulled, and they're the ones we'd pull.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A26769"/>
                </a:solidFill>
                <a:latin typeface="Calibri" pitchFamily="34" charset="0"/>
                <a:ea typeface="Calibri" pitchFamily="34" charset="-122"/>
                <a:cs typeface="Calibri" pitchFamily="34" charset="-120"/>
              </a:rPr>
              <a:t>YOUR SIDE OF IT</a:t>
            </a:r>
            <a:endParaRPr lang="en-US" sz="1200" dirty="0"/>
          </a:p>
        </p:txBody>
      </p:sp>
      <p:sp>
        <p:nvSpPr>
          <p:cNvPr id="3" name="Text 1"/>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2B1620"/>
                </a:solidFill>
                <a:latin typeface="Cambria" pitchFamily="34" charset="0"/>
                <a:ea typeface="Cambria" pitchFamily="34" charset="-122"/>
                <a:cs typeface="Cambria" pitchFamily="34" charset="-120"/>
              </a:rPr>
              <a:t>What I'd need from you</a:t>
            </a:r>
            <a:endParaRPr lang="en-US" sz="3800" dirty="0"/>
          </a:p>
        </p:txBody>
      </p:sp>
      <p:sp>
        <p:nvSpPr>
          <p:cNvPr id="4" name="Text 2"/>
          <p:cNvSpPr/>
          <p:nvPr/>
        </p:nvSpPr>
        <p:spPr>
          <a:xfrm>
            <a:off x="640080" y="1600200"/>
            <a:ext cx="10515600" cy="548640"/>
          </a:xfrm>
          <a:prstGeom prst="rect">
            <a:avLst/>
          </a:prstGeom>
          <a:noFill/>
          <a:ln/>
        </p:spPr>
        <p:txBody>
          <a:bodyPr wrap="square" lIns="0" tIns="0" rIns="0" bIns="0" rtlCol="0" anchor="ctr"/>
          <a:lstStyle/>
          <a:p>
            <a:pPr indent="0" marL="0">
              <a:lnSpc>
                <a:spcPts val="2400"/>
              </a:lnSpc>
              <a:buNone/>
            </a:pPr>
            <a:r>
              <a:rPr lang="en-US" sz="1700" dirty="0">
                <a:solidFill>
                  <a:srgbClr val="7A6068"/>
                </a:solidFill>
                <a:latin typeface="Calibri" pitchFamily="34" charset="0"/>
                <a:ea typeface="Calibri" pitchFamily="34" charset="-122"/>
                <a:cs typeface="Calibri" pitchFamily="34" charset="-120"/>
              </a:rPr>
              <a:t>Not much — and deliberately so. You have two children and a business to build. The point of a partner is that you do less, not more.</a:t>
            </a:r>
            <a:endParaRPr lang="en-US" sz="1700" dirty="0"/>
          </a:p>
        </p:txBody>
      </p:sp>
      <p:sp>
        <p:nvSpPr>
          <p:cNvPr id="5" name="Shape 3"/>
          <p:cNvSpPr/>
          <p:nvPr/>
        </p:nvSpPr>
        <p:spPr>
          <a:xfrm>
            <a:off x="640080" y="2423160"/>
            <a:ext cx="502920" cy="502920"/>
          </a:xfrm>
          <a:prstGeom prst="ellipse">
            <a:avLst/>
          </a:prstGeom>
          <a:solidFill>
            <a:srgbClr val="6D2E46"/>
          </a:solidFill>
          <a:ln/>
        </p:spPr>
      </p:sp>
      <p:sp>
        <p:nvSpPr>
          <p:cNvPr id="6" name="Text 4"/>
          <p:cNvSpPr/>
          <p:nvPr/>
        </p:nvSpPr>
        <p:spPr>
          <a:xfrm>
            <a:off x="640080" y="24231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53312" y="2404872"/>
            <a:ext cx="4663440" cy="320040"/>
          </a:xfrm>
          <a:prstGeom prst="rect">
            <a:avLst/>
          </a:prstGeom>
          <a:noFill/>
          <a:ln/>
        </p:spPr>
        <p:txBody>
          <a:bodyPr wrap="square" lIns="0" tIns="0" rIns="0" bIns="0" rtlCol="0" anchor="ctr"/>
          <a:lstStyle/>
          <a:p>
            <a:pPr indent="0" marL="0">
              <a:buNone/>
            </a:pPr>
            <a:r>
              <a:rPr lang="en-US" sz="1650" b="1" dirty="0">
                <a:solidFill>
                  <a:srgbClr val="2B1620"/>
                </a:solidFill>
                <a:latin typeface="Calibri" pitchFamily="34" charset="0"/>
                <a:ea typeface="Calibri" pitchFamily="34" charset="-122"/>
                <a:cs typeface="Calibri" pitchFamily="34" charset="-120"/>
              </a:rPr>
              <a:t>About 30 minutes a week of filming</a:t>
            </a:r>
            <a:endParaRPr lang="en-US" sz="1650" dirty="0"/>
          </a:p>
        </p:txBody>
      </p:sp>
      <p:sp>
        <p:nvSpPr>
          <p:cNvPr id="8" name="Text 6"/>
          <p:cNvSpPr/>
          <p:nvPr/>
        </p:nvSpPr>
        <p:spPr>
          <a:xfrm>
            <a:off x="1353312" y="2752344"/>
            <a:ext cx="4663440" cy="640080"/>
          </a:xfrm>
          <a:prstGeom prst="rect">
            <a:avLst/>
          </a:prstGeom>
          <a:noFill/>
          <a:ln/>
        </p:spPr>
        <p:txBody>
          <a:bodyPr wrap="square" lIns="0" tIns="0" rIns="0" bIns="0" rtlCol="0" anchor="ctr"/>
          <a:lstStyle/>
          <a:p>
            <a:pPr indent="0" marL="0">
              <a:lnSpc>
                <a:spcPts val="1900"/>
              </a:lnSpc>
              <a:buNone/>
            </a:pPr>
            <a:r>
              <a:rPr lang="en-US" sz="1300" dirty="0">
                <a:solidFill>
                  <a:srgbClr val="7A6068"/>
                </a:solidFill>
                <a:latin typeface="Calibri" pitchFamily="34" charset="0"/>
                <a:ea typeface="Calibri" pitchFamily="34" charset="-122"/>
                <a:cs typeface="Calibri" pitchFamily="34" charset="-120"/>
              </a:rPr>
              <a:t>On your own phone, at home. We give you the setup and a simple guide.</a:t>
            </a:r>
            <a:endParaRPr lang="en-US" sz="1300" dirty="0"/>
          </a:p>
        </p:txBody>
      </p:sp>
      <p:sp>
        <p:nvSpPr>
          <p:cNvPr id="9" name="Shape 7"/>
          <p:cNvSpPr/>
          <p:nvPr/>
        </p:nvSpPr>
        <p:spPr>
          <a:xfrm>
            <a:off x="6263640" y="2423160"/>
            <a:ext cx="502920" cy="502920"/>
          </a:xfrm>
          <a:prstGeom prst="ellipse">
            <a:avLst/>
          </a:prstGeom>
          <a:solidFill>
            <a:srgbClr val="6D2E46"/>
          </a:solidFill>
          <a:ln/>
        </p:spPr>
      </p:sp>
      <p:sp>
        <p:nvSpPr>
          <p:cNvPr id="10" name="Text 8"/>
          <p:cNvSpPr/>
          <p:nvPr/>
        </p:nvSpPr>
        <p:spPr>
          <a:xfrm>
            <a:off x="6263640" y="24231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6976872" y="2404872"/>
            <a:ext cx="4663440" cy="320040"/>
          </a:xfrm>
          <a:prstGeom prst="rect">
            <a:avLst/>
          </a:prstGeom>
          <a:noFill/>
          <a:ln/>
        </p:spPr>
        <p:txBody>
          <a:bodyPr wrap="square" lIns="0" tIns="0" rIns="0" bIns="0" rtlCol="0" anchor="ctr"/>
          <a:lstStyle/>
          <a:p>
            <a:pPr indent="0" marL="0">
              <a:buNone/>
            </a:pPr>
            <a:r>
              <a:rPr lang="en-US" sz="1650" b="1" dirty="0">
                <a:solidFill>
                  <a:srgbClr val="2B1620"/>
                </a:solidFill>
                <a:latin typeface="Calibri" pitchFamily="34" charset="0"/>
                <a:ea typeface="Calibri" pitchFamily="34" charset="-122"/>
                <a:cs typeface="Calibri" pitchFamily="34" charset="-120"/>
              </a:rPr>
              <a:t>20 minutes a day in your own DMs</a:t>
            </a:r>
            <a:endParaRPr lang="en-US" sz="1650" dirty="0"/>
          </a:p>
        </p:txBody>
      </p:sp>
      <p:sp>
        <p:nvSpPr>
          <p:cNvPr id="12" name="Text 10"/>
          <p:cNvSpPr/>
          <p:nvPr/>
        </p:nvSpPr>
        <p:spPr>
          <a:xfrm>
            <a:off x="6976872" y="2752344"/>
            <a:ext cx="4663440" cy="640080"/>
          </a:xfrm>
          <a:prstGeom prst="rect">
            <a:avLst/>
          </a:prstGeom>
          <a:noFill/>
          <a:ln/>
        </p:spPr>
        <p:txBody>
          <a:bodyPr wrap="square" lIns="0" tIns="0" rIns="0" bIns="0" rtlCol="0" anchor="ctr"/>
          <a:lstStyle/>
          <a:p>
            <a:pPr indent="0" marL="0">
              <a:lnSpc>
                <a:spcPts val="1900"/>
              </a:lnSpc>
              <a:buNone/>
            </a:pPr>
            <a:r>
              <a:rPr lang="en-US" sz="1300" dirty="0">
                <a:solidFill>
                  <a:srgbClr val="7A6068"/>
                </a:solidFill>
                <a:latin typeface="Calibri" pitchFamily="34" charset="0"/>
                <a:ea typeface="Calibri" pitchFamily="34" charset="-122"/>
                <a:cs typeface="Calibri" pitchFamily="34" charset="-120"/>
              </a:rPr>
              <a:t>This one can't be outsourced. People are buying you. We'll draft the repetitive replies.</a:t>
            </a:r>
            <a:endParaRPr lang="en-US" sz="1300" dirty="0"/>
          </a:p>
        </p:txBody>
      </p:sp>
      <p:sp>
        <p:nvSpPr>
          <p:cNvPr id="13" name="Shape 11"/>
          <p:cNvSpPr/>
          <p:nvPr/>
        </p:nvSpPr>
        <p:spPr>
          <a:xfrm>
            <a:off x="640080" y="3657600"/>
            <a:ext cx="502920" cy="502920"/>
          </a:xfrm>
          <a:prstGeom prst="ellipse">
            <a:avLst/>
          </a:prstGeom>
          <a:solidFill>
            <a:srgbClr val="6D2E46"/>
          </a:solidFill>
          <a:ln/>
        </p:spPr>
      </p:sp>
      <p:sp>
        <p:nvSpPr>
          <p:cNvPr id="14" name="Text 12"/>
          <p:cNvSpPr/>
          <p:nvPr/>
        </p:nvSpPr>
        <p:spPr>
          <a:xfrm>
            <a:off x="640080" y="36576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353312" y="3639312"/>
            <a:ext cx="4663440" cy="320040"/>
          </a:xfrm>
          <a:prstGeom prst="rect">
            <a:avLst/>
          </a:prstGeom>
          <a:noFill/>
          <a:ln/>
        </p:spPr>
        <p:txBody>
          <a:bodyPr wrap="square" lIns="0" tIns="0" rIns="0" bIns="0" rtlCol="0" anchor="ctr"/>
          <a:lstStyle/>
          <a:p>
            <a:pPr indent="0" marL="0">
              <a:buNone/>
            </a:pPr>
            <a:r>
              <a:rPr lang="en-US" sz="1650" b="1" dirty="0">
                <a:solidFill>
                  <a:srgbClr val="2B1620"/>
                </a:solidFill>
                <a:latin typeface="Calibri" pitchFamily="34" charset="0"/>
                <a:ea typeface="Calibri" pitchFamily="34" charset="-122"/>
                <a:cs typeface="Calibri" pitchFamily="34" charset="-120"/>
              </a:rPr>
              <a:t>Willingness to speak on camera</a:t>
            </a:r>
            <a:endParaRPr lang="en-US" sz="1650" dirty="0"/>
          </a:p>
        </p:txBody>
      </p:sp>
      <p:sp>
        <p:nvSpPr>
          <p:cNvPr id="16" name="Text 14"/>
          <p:cNvSpPr/>
          <p:nvPr/>
        </p:nvSpPr>
        <p:spPr>
          <a:xfrm>
            <a:off x="1353312" y="3986784"/>
            <a:ext cx="4663440" cy="640080"/>
          </a:xfrm>
          <a:prstGeom prst="rect">
            <a:avLst/>
          </a:prstGeom>
          <a:noFill/>
          <a:ln/>
        </p:spPr>
        <p:txBody>
          <a:bodyPr wrap="square" lIns="0" tIns="0" rIns="0" bIns="0" rtlCol="0" anchor="ctr"/>
          <a:lstStyle/>
          <a:p>
            <a:pPr indent="0" marL="0">
              <a:lnSpc>
                <a:spcPts val="1900"/>
              </a:lnSpc>
              <a:buNone/>
            </a:pPr>
            <a:r>
              <a:rPr lang="en-US" sz="1300" dirty="0">
                <a:solidFill>
                  <a:srgbClr val="7A6068"/>
                </a:solidFill>
                <a:latin typeface="Calibri" pitchFamily="34" charset="0"/>
                <a:ea typeface="Calibri" pitchFamily="34" charset="-122"/>
                <a:cs typeface="Calibri" pitchFamily="34" charset="-120"/>
              </a:rPr>
              <a:t>In Hinglish, the way you'd talk to a friend. We'll coach you through the first month.</a:t>
            </a:r>
            <a:endParaRPr lang="en-US" sz="1300" dirty="0"/>
          </a:p>
        </p:txBody>
      </p:sp>
      <p:sp>
        <p:nvSpPr>
          <p:cNvPr id="17" name="Shape 15"/>
          <p:cNvSpPr/>
          <p:nvPr/>
        </p:nvSpPr>
        <p:spPr>
          <a:xfrm>
            <a:off x="6263640" y="3657600"/>
            <a:ext cx="502920" cy="502920"/>
          </a:xfrm>
          <a:prstGeom prst="ellipse">
            <a:avLst/>
          </a:prstGeom>
          <a:solidFill>
            <a:srgbClr val="6D2E46"/>
          </a:solidFill>
          <a:ln/>
        </p:spPr>
      </p:sp>
      <p:sp>
        <p:nvSpPr>
          <p:cNvPr id="18" name="Text 16"/>
          <p:cNvSpPr/>
          <p:nvPr/>
        </p:nvSpPr>
        <p:spPr>
          <a:xfrm>
            <a:off x="6263640" y="36576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6976872" y="3639312"/>
            <a:ext cx="4663440" cy="320040"/>
          </a:xfrm>
          <a:prstGeom prst="rect">
            <a:avLst/>
          </a:prstGeom>
          <a:noFill/>
          <a:ln/>
        </p:spPr>
        <p:txBody>
          <a:bodyPr wrap="square" lIns="0" tIns="0" rIns="0" bIns="0" rtlCol="0" anchor="ctr"/>
          <a:lstStyle/>
          <a:p>
            <a:pPr indent="0" marL="0">
              <a:buNone/>
            </a:pPr>
            <a:r>
              <a:rPr lang="en-US" sz="1650" b="1" dirty="0">
                <a:solidFill>
                  <a:srgbClr val="2B1620"/>
                </a:solidFill>
                <a:latin typeface="Calibri" pitchFamily="34" charset="0"/>
                <a:ea typeface="Calibri" pitchFamily="34" charset="-122"/>
                <a:cs typeface="Calibri" pitchFamily="34" charset="-120"/>
              </a:rPr>
              <a:t>Permission to be mid-journey</a:t>
            </a:r>
            <a:endParaRPr lang="en-US" sz="1650" dirty="0"/>
          </a:p>
        </p:txBody>
      </p:sp>
      <p:sp>
        <p:nvSpPr>
          <p:cNvPr id="20" name="Text 18"/>
          <p:cNvSpPr/>
          <p:nvPr/>
        </p:nvSpPr>
        <p:spPr>
          <a:xfrm>
            <a:off x="6976872" y="3986784"/>
            <a:ext cx="4663440" cy="640080"/>
          </a:xfrm>
          <a:prstGeom prst="rect">
            <a:avLst/>
          </a:prstGeom>
          <a:noFill/>
          <a:ln/>
        </p:spPr>
        <p:txBody>
          <a:bodyPr wrap="square" lIns="0" tIns="0" rIns="0" bIns="0" rtlCol="0" anchor="ctr"/>
          <a:lstStyle/>
          <a:p>
            <a:pPr indent="0" marL="0">
              <a:lnSpc>
                <a:spcPts val="1900"/>
              </a:lnSpc>
              <a:buNone/>
            </a:pPr>
            <a:r>
              <a:rPr lang="en-US" sz="1300" dirty="0">
                <a:solidFill>
                  <a:srgbClr val="7A6068"/>
                </a:solidFill>
                <a:latin typeface="Calibri" pitchFamily="34" charset="0"/>
                <a:ea typeface="Calibri" pitchFamily="34" charset="-122"/>
                <a:cs typeface="Calibri" pitchFamily="34" charset="-120"/>
              </a:rPr>
              <a:t>You don't have to have arrived. Katie's power comes from still being on the way.</a:t>
            </a:r>
            <a:endParaRPr lang="en-US" sz="1300" dirty="0"/>
          </a:p>
        </p:txBody>
      </p:sp>
      <p:sp>
        <p:nvSpPr>
          <p:cNvPr id="21" name="Shape 19"/>
          <p:cNvSpPr/>
          <p:nvPr/>
        </p:nvSpPr>
        <p:spPr>
          <a:xfrm>
            <a:off x="640080" y="5120640"/>
            <a:ext cx="10881360" cy="960120"/>
          </a:xfrm>
          <a:prstGeom prst="roundRect">
            <a:avLst>
              <a:gd name="adj" fmla="val 13333"/>
            </a:avLst>
          </a:prstGeom>
          <a:solidFill>
            <a:srgbClr val="6D2E46"/>
          </a:solidFill>
          <a:ln/>
        </p:spPr>
      </p:sp>
      <p:sp>
        <p:nvSpPr>
          <p:cNvPr id="22" name="Text 20"/>
          <p:cNvSpPr/>
          <p:nvPr/>
        </p:nvSpPr>
        <p:spPr>
          <a:xfrm>
            <a:off x="1051560" y="5120640"/>
            <a:ext cx="10058400" cy="960120"/>
          </a:xfrm>
          <a:prstGeom prst="rect">
            <a:avLst/>
          </a:prstGeom>
          <a:noFill/>
          <a:ln/>
        </p:spPr>
        <p:txBody>
          <a:bodyPr wrap="square" lIns="0" tIns="0" rIns="0" bIns="0" rtlCol="0" anchor="ctr"/>
          <a:lstStyle/>
          <a:p>
            <a:pPr indent="0" marL="0">
              <a:lnSpc>
                <a:spcPts val="2500"/>
              </a:lnSpc>
              <a:buNone/>
            </a:pPr>
            <a:r>
              <a:rPr lang="en-US" sz="1800" dirty="0">
                <a:solidFill>
                  <a:srgbClr val="FFFFFF"/>
                </a:solidFill>
                <a:latin typeface="Calibri" pitchFamily="34" charset="0"/>
                <a:ea typeface="Calibri" pitchFamily="34" charset="-122"/>
                <a:cs typeface="Calibri" pitchFamily="34" charset="-120"/>
              </a:rPr>
              <a:t>Everything else — shooting, editing, captions, covers, posting, YouTube, the list, the numbers — is mine to carry.</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D1B2E"/>
        </a:solidFill>
      </p:bgPr>
    </p:bg>
    <p:spTree>
      <p:nvGrpSpPr>
        <p:cNvPr id="1" name=""/>
        <p:cNvGrpSpPr/>
        <p:nvPr/>
      </p:nvGrpSpPr>
      <p:grpSpPr>
        <a:xfrm>
          <a:off x="0" y="0"/>
          <a:ext cx="0" cy="0"/>
          <a:chOff x="0" y="0"/>
          <a:chExt cx="0" cy="0"/>
        </a:xfrm>
      </p:grpSpPr>
      <p:sp>
        <p:nvSpPr>
          <p:cNvPr id="2" name="Shape 0"/>
          <p:cNvSpPr/>
          <p:nvPr/>
        </p:nvSpPr>
        <p:spPr>
          <a:xfrm>
            <a:off x="-2651760" y="5486400"/>
            <a:ext cx="3840480" cy="3840480"/>
          </a:xfrm>
          <a:prstGeom prst="ellipse">
            <a:avLst/>
          </a:prstGeom>
          <a:solidFill>
            <a:srgbClr val="6D2E46"/>
          </a:solidFill>
          <a:ln/>
        </p:spPr>
      </p:sp>
      <p:sp>
        <p:nvSpPr>
          <p:cNvPr id="3" name="Shape 1"/>
          <p:cNvSpPr/>
          <p:nvPr/>
        </p:nvSpPr>
        <p:spPr>
          <a:xfrm>
            <a:off x="9966960" y="-1280160"/>
            <a:ext cx="3749040" cy="3749040"/>
          </a:xfrm>
          <a:prstGeom prst="ellipse">
            <a:avLst/>
          </a:prstGeom>
          <a:solidFill>
            <a:srgbClr val="A26769"/>
          </a:solidFill>
          <a:ln/>
        </p:spPr>
      </p:sp>
      <p:sp>
        <p:nvSpPr>
          <p:cNvPr id="4" name="Text 2"/>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D9A441"/>
                </a:solidFill>
                <a:latin typeface="Calibri" pitchFamily="34" charset="0"/>
                <a:ea typeface="Calibri" pitchFamily="34" charset="-122"/>
                <a:cs typeface="Calibri" pitchFamily="34" charset="-120"/>
              </a:rPr>
              <a:t>WHERE I'D START</a:t>
            </a:r>
            <a:endParaRPr lang="en-US" sz="1200" dirty="0"/>
          </a:p>
        </p:txBody>
      </p:sp>
      <p:sp>
        <p:nvSpPr>
          <p:cNvPr id="5" name="Text 3"/>
          <p:cNvSpPr/>
          <p:nvPr/>
        </p:nvSpPr>
        <p:spPr>
          <a:xfrm>
            <a:off x="640080" y="749808"/>
            <a:ext cx="10881360" cy="91440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You're closer than you think</a:t>
            </a:r>
            <a:endParaRPr lang="en-US" sz="3800" dirty="0"/>
          </a:p>
        </p:txBody>
      </p:sp>
      <p:sp>
        <p:nvSpPr>
          <p:cNvPr id="6" name="Text 4"/>
          <p:cNvSpPr/>
          <p:nvPr/>
        </p:nvSpPr>
        <p:spPr>
          <a:xfrm>
            <a:off x="640080" y="1828800"/>
            <a:ext cx="8229600" cy="777240"/>
          </a:xfrm>
          <a:prstGeom prst="rect">
            <a:avLst/>
          </a:prstGeom>
          <a:noFill/>
          <a:ln/>
        </p:spPr>
        <p:txBody>
          <a:bodyPr wrap="square" lIns="0" tIns="0" rIns="0" bIns="0" rtlCol="0" anchor="ctr"/>
          <a:lstStyle/>
          <a:p>
            <a:pPr indent="0" marL="0">
              <a:lnSpc>
                <a:spcPts val="2800"/>
              </a:lnSpc>
              <a:buNone/>
            </a:pPr>
            <a:r>
              <a:rPr lang="en-US" sz="1700" dirty="0">
                <a:solidFill>
                  <a:srgbClr val="C9AEB8"/>
                </a:solidFill>
                <a:latin typeface="Calibri" pitchFamily="34" charset="0"/>
                <a:ea typeface="Calibri" pitchFamily="34" charset="-122"/>
                <a:cs typeface="Calibri" pitchFamily="34" charset="-120"/>
              </a:rPr>
              <a:t>You already have the hard parts. You've got the story, the audience instinct, the discipline to keep posting, and you're living the exact life your audience is living.</a:t>
            </a:r>
            <a:endParaRPr lang="en-US" sz="1700" dirty="0"/>
          </a:p>
        </p:txBody>
      </p:sp>
      <p:sp>
        <p:nvSpPr>
          <p:cNvPr id="7" name="Text 5"/>
          <p:cNvSpPr/>
          <p:nvPr/>
        </p:nvSpPr>
        <p:spPr>
          <a:xfrm>
            <a:off x="640080" y="2697480"/>
            <a:ext cx="8229600" cy="603504"/>
          </a:xfrm>
          <a:prstGeom prst="rect">
            <a:avLst/>
          </a:prstGeom>
          <a:noFill/>
          <a:ln/>
        </p:spPr>
        <p:txBody>
          <a:bodyPr wrap="square" lIns="0" tIns="0" rIns="0" bIns="0" rtlCol="0" anchor="ctr"/>
          <a:lstStyle/>
          <a:p>
            <a:pPr indent="0" marL="0">
              <a:lnSpc>
                <a:spcPts val="2800"/>
              </a:lnSpc>
              <a:buNone/>
            </a:pPr>
            <a:r>
              <a:rPr lang="en-US" sz="1700" dirty="0">
                <a:solidFill>
                  <a:srgbClr val="C9AEB8"/>
                </a:solidFill>
                <a:latin typeface="Calibri" pitchFamily="34" charset="0"/>
                <a:ea typeface="Calibri" pitchFamily="34" charset="-122"/>
                <a:cs typeface="Calibri" pitchFamily="34" charset="-120"/>
              </a:rPr>
              <a:t>You've already written the line. You've already told your followers something is coming.</a:t>
            </a:r>
            <a:endParaRPr lang="en-US" sz="1700" dirty="0"/>
          </a:p>
        </p:txBody>
      </p:sp>
      <p:sp>
        <p:nvSpPr>
          <p:cNvPr id="8" name="Text 6"/>
          <p:cNvSpPr/>
          <p:nvPr/>
        </p:nvSpPr>
        <p:spPr>
          <a:xfrm>
            <a:off x="640080" y="3291840"/>
            <a:ext cx="8229600" cy="822960"/>
          </a:xfrm>
          <a:prstGeom prst="rect">
            <a:avLst/>
          </a:prstGeom>
          <a:noFill/>
          <a:ln/>
        </p:spPr>
        <p:txBody>
          <a:bodyPr wrap="square" lIns="0" tIns="0" rIns="0" bIns="0" rtlCol="0" anchor="ctr"/>
          <a:lstStyle/>
          <a:p>
            <a:pPr indent="0" marL="0">
              <a:lnSpc>
                <a:spcPts val="2800"/>
              </a:lnSpc>
              <a:buNone/>
            </a:pPr>
            <a:r>
              <a:rPr lang="en-US" sz="1700" dirty="0">
                <a:solidFill>
                  <a:srgbClr val="C9AEB8"/>
                </a:solidFill>
                <a:latin typeface="Calibri" pitchFamily="34" charset="0"/>
                <a:ea typeface="Calibri" pitchFamily="34" charset="-122"/>
                <a:cs typeface="Calibri" pitchFamily="34" charset="-120"/>
              </a:rPr>
              <a:t>What's missing is </a:t>
            </a:r>
            <a:pPr indent="0" marL="0">
              <a:lnSpc>
                <a:spcPts val="2800"/>
              </a:lnSpc>
              <a:buNone/>
            </a:pPr>
            <a:r>
              <a:rPr lang="en-US" sz="1700" b="1" dirty="0">
                <a:solidFill>
                  <a:srgbClr val="FFFFFF"/>
                </a:solidFill>
                <a:latin typeface="Calibri" pitchFamily="34" charset="0"/>
                <a:ea typeface="Calibri" pitchFamily="34" charset="-122"/>
                <a:cs typeface="Calibri" pitchFamily="34" charset="-120"/>
              </a:rPr>
              <a:t>one decision</a:t>
            </a:r>
            <a:pPr indent="0" marL="0">
              <a:lnSpc>
                <a:spcPts val="2800"/>
              </a:lnSpc>
              <a:buNone/>
            </a:pPr>
            <a:r>
              <a:rPr lang="en-US" sz="1700" dirty="0">
                <a:solidFill>
                  <a:srgbClr val="C9AEB8"/>
                </a:solidFill>
                <a:latin typeface="Calibri" pitchFamily="34" charset="0"/>
                <a:ea typeface="Calibri" pitchFamily="34" charset="-122"/>
                <a:cs typeface="Calibri" pitchFamily="34" charset="-120"/>
              </a:rPr>
              <a:t> — and someone to carry the weight of making it real, every week, so you can go back to being the coach instead of the editor.</a:t>
            </a:r>
            <a:endParaRPr lang="en-US" sz="1700" dirty="0"/>
          </a:p>
        </p:txBody>
      </p:sp>
      <p:sp>
        <p:nvSpPr>
          <p:cNvPr id="9" name="Text 7"/>
          <p:cNvSpPr/>
          <p:nvPr/>
        </p:nvSpPr>
        <p:spPr>
          <a:xfrm>
            <a:off x="640080" y="4663440"/>
            <a:ext cx="8229600" cy="5486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That second part is what we're good at.</a:t>
            </a:r>
            <a:endParaRPr lang="en-US" sz="2900" dirty="0"/>
          </a:p>
        </p:txBody>
      </p:sp>
      <p:sp>
        <p:nvSpPr>
          <p:cNvPr id="10" name="Shape 8"/>
          <p:cNvSpPr/>
          <p:nvPr/>
        </p:nvSpPr>
        <p:spPr>
          <a:xfrm>
            <a:off x="640080" y="5394960"/>
            <a:ext cx="5852160" cy="822960"/>
          </a:xfrm>
          <a:prstGeom prst="roundRect">
            <a:avLst>
              <a:gd name="adj" fmla="val 15556"/>
            </a:avLst>
          </a:prstGeom>
          <a:solidFill>
            <a:srgbClr val="6D2E46"/>
          </a:solidFill>
          <a:ln/>
        </p:spPr>
      </p:sp>
      <p:sp>
        <p:nvSpPr>
          <p:cNvPr id="11" name="Text 9"/>
          <p:cNvSpPr/>
          <p:nvPr/>
        </p:nvSpPr>
        <p:spPr>
          <a:xfrm>
            <a:off x="1005840" y="5394960"/>
            <a:ext cx="5212080" cy="82296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Let's get on a call and I'll walk you through all of it properly.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neXtHer — What I Found</dc:title>
  <dc:subject>PptxGenJS Presentation</dc:subject>
  <dc:creator>ProductionX</dc:creator>
  <cp:lastModifiedBy>ProductionX</cp:lastModifiedBy>
  <cp:revision>1</cp:revision>
  <dcterms:created xsi:type="dcterms:W3CDTF">2026-08-08T07:34:59Z</dcterms:created>
  <dcterms:modified xsi:type="dcterms:W3CDTF">2026-08-08T07:34:59Z</dcterms:modified>
</cp:coreProperties>
</file>